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C33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47975" cy="6858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588770" cy="6858000"/>
          </a:xfrm>
          <a:custGeom>
            <a:avLst/>
            <a:gdLst/>
            <a:ahLst/>
            <a:cxnLst/>
            <a:rect l="l" t="t" r="r" b="b"/>
            <a:pathLst>
              <a:path w="1588770" h="6858000">
                <a:moveTo>
                  <a:pt x="1588185" y="967663"/>
                </a:moveTo>
                <a:lnTo>
                  <a:pt x="1586433" y="960539"/>
                </a:lnTo>
                <a:lnTo>
                  <a:pt x="1581150" y="953389"/>
                </a:lnTo>
                <a:lnTo>
                  <a:pt x="1353185" y="725551"/>
                </a:lnTo>
                <a:lnTo>
                  <a:pt x="1348232" y="725551"/>
                </a:lnTo>
                <a:lnTo>
                  <a:pt x="1348232" y="720852"/>
                </a:lnTo>
                <a:lnTo>
                  <a:pt x="1343660" y="720852"/>
                </a:lnTo>
                <a:lnTo>
                  <a:pt x="1338834" y="716153"/>
                </a:lnTo>
                <a:lnTo>
                  <a:pt x="1243825" y="716153"/>
                </a:lnTo>
                <a:lnTo>
                  <a:pt x="180975" y="714629"/>
                </a:lnTo>
                <a:lnTo>
                  <a:pt x="180975" y="0"/>
                </a:lnTo>
                <a:lnTo>
                  <a:pt x="0" y="0"/>
                </a:lnTo>
                <a:lnTo>
                  <a:pt x="0" y="1215644"/>
                </a:lnTo>
                <a:lnTo>
                  <a:pt x="0" y="6858000"/>
                </a:lnTo>
                <a:lnTo>
                  <a:pt x="180975" y="6858000"/>
                </a:lnTo>
                <a:lnTo>
                  <a:pt x="180975" y="1216164"/>
                </a:lnTo>
                <a:lnTo>
                  <a:pt x="1243825" y="1219200"/>
                </a:lnTo>
                <a:lnTo>
                  <a:pt x="1343660" y="1219200"/>
                </a:lnTo>
                <a:lnTo>
                  <a:pt x="1348232" y="1214501"/>
                </a:lnTo>
                <a:lnTo>
                  <a:pt x="1349883" y="1212850"/>
                </a:lnTo>
                <a:lnTo>
                  <a:pt x="1351661" y="1211326"/>
                </a:lnTo>
                <a:lnTo>
                  <a:pt x="1353185" y="1209675"/>
                </a:lnTo>
                <a:lnTo>
                  <a:pt x="1581150" y="981837"/>
                </a:lnTo>
                <a:lnTo>
                  <a:pt x="1586433" y="974775"/>
                </a:lnTo>
                <a:lnTo>
                  <a:pt x="1588185" y="967663"/>
                </a:lnTo>
                <a:close/>
              </a:path>
            </a:pathLst>
          </a:custGeom>
          <a:solidFill>
            <a:srgbClr val="DE31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8662" y="648588"/>
            <a:ext cx="7781861" cy="596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70175" y="2159952"/>
            <a:ext cx="8679815" cy="2608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0175" y="3058096"/>
            <a:ext cx="8570595" cy="20497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50"/>
              </a:spcBef>
            </a:pPr>
            <a:r>
              <a:rPr sz="5400" spc="390" dirty="0">
                <a:solidFill>
                  <a:srgbClr val="FFFFFF"/>
                </a:solidFill>
                <a:latin typeface="Trebuchet MS"/>
                <a:cs typeface="Trebuchet MS"/>
              </a:rPr>
              <a:t>Мобильное</a:t>
            </a:r>
            <a:r>
              <a:rPr sz="54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400" spc="320" dirty="0">
                <a:solidFill>
                  <a:srgbClr val="FFFFFF"/>
                </a:solidFill>
                <a:latin typeface="Trebuchet MS"/>
                <a:cs typeface="Trebuchet MS"/>
              </a:rPr>
              <a:t>приложение </a:t>
            </a:r>
            <a:r>
              <a:rPr sz="5400" spc="-75" dirty="0">
                <a:solidFill>
                  <a:srgbClr val="FFFFFF"/>
                </a:solidFill>
                <a:latin typeface="Trebuchet MS"/>
                <a:cs typeface="Trebuchet MS"/>
              </a:rPr>
              <a:t>для</a:t>
            </a:r>
            <a:r>
              <a:rPr sz="5400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400" spc="545" dirty="0">
                <a:solidFill>
                  <a:srgbClr val="FFFFFF"/>
                </a:solidFill>
                <a:latin typeface="Trebuchet MS"/>
                <a:cs typeface="Trebuchet MS"/>
              </a:rPr>
              <a:t>подбора</a:t>
            </a:r>
            <a:r>
              <a:rPr sz="54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400" spc="340" dirty="0">
                <a:solidFill>
                  <a:srgbClr val="FFFFFF"/>
                </a:solidFill>
                <a:latin typeface="Trebuchet MS"/>
                <a:cs typeface="Trebuchet MS"/>
              </a:rPr>
              <a:t>подарков</a:t>
            </a:r>
            <a:endParaRPr sz="5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Выполнина: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Trebuchet MS"/>
                <a:cs typeface="Trebuchet MS"/>
              </a:rPr>
              <a:t>Пан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Валерия,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rebuchet MS"/>
                <a:cs typeface="Trebuchet MS"/>
              </a:rPr>
              <a:t>411ИС-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22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847975" cy="6858000"/>
            <a:chOff x="0" y="0"/>
            <a:chExt cx="284797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847975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741170" cy="6858000"/>
            </a:xfrm>
            <a:custGeom>
              <a:avLst/>
              <a:gdLst/>
              <a:ahLst/>
              <a:cxnLst/>
              <a:rect l="l" t="t" r="r" b="b"/>
              <a:pathLst>
                <a:path w="1741170" h="6858000">
                  <a:moveTo>
                    <a:pt x="1740725" y="4714291"/>
                  </a:moveTo>
                  <a:lnTo>
                    <a:pt x="1738960" y="4702619"/>
                  </a:lnTo>
                  <a:lnTo>
                    <a:pt x="1733677" y="4691380"/>
                  </a:lnTo>
                  <a:lnTo>
                    <a:pt x="1377569" y="4338447"/>
                  </a:lnTo>
                  <a:lnTo>
                    <a:pt x="1377569" y="4333748"/>
                  </a:lnTo>
                  <a:lnTo>
                    <a:pt x="1372870" y="4333748"/>
                  </a:lnTo>
                  <a:lnTo>
                    <a:pt x="1368475" y="4330306"/>
                  </a:lnTo>
                  <a:lnTo>
                    <a:pt x="1362354" y="4327296"/>
                  </a:lnTo>
                  <a:lnTo>
                    <a:pt x="1354467" y="4325163"/>
                  </a:lnTo>
                  <a:lnTo>
                    <a:pt x="1344803" y="4324350"/>
                  </a:lnTo>
                  <a:lnTo>
                    <a:pt x="180975" y="4324350"/>
                  </a:lnTo>
                  <a:lnTo>
                    <a:pt x="180975" y="0"/>
                  </a:lnTo>
                  <a:lnTo>
                    <a:pt x="0" y="0"/>
                  </a:lnTo>
                  <a:lnTo>
                    <a:pt x="0" y="4324350"/>
                  </a:lnTo>
                  <a:lnTo>
                    <a:pt x="0" y="5105400"/>
                  </a:lnTo>
                  <a:lnTo>
                    <a:pt x="0" y="6858000"/>
                  </a:lnTo>
                  <a:lnTo>
                    <a:pt x="180975" y="6858000"/>
                  </a:lnTo>
                  <a:lnTo>
                    <a:pt x="180975" y="5105400"/>
                  </a:lnTo>
                  <a:lnTo>
                    <a:pt x="1344803" y="5105400"/>
                  </a:lnTo>
                  <a:lnTo>
                    <a:pt x="1354467" y="5104600"/>
                  </a:lnTo>
                  <a:lnTo>
                    <a:pt x="1362354" y="5102466"/>
                  </a:lnTo>
                  <a:lnTo>
                    <a:pt x="1368475" y="5099456"/>
                  </a:lnTo>
                  <a:lnTo>
                    <a:pt x="1372870" y="5096002"/>
                  </a:lnTo>
                  <a:lnTo>
                    <a:pt x="1372870" y="5091303"/>
                  </a:lnTo>
                  <a:lnTo>
                    <a:pt x="1377569" y="5091303"/>
                  </a:lnTo>
                  <a:lnTo>
                    <a:pt x="1733677" y="4733671"/>
                  </a:lnTo>
                  <a:lnTo>
                    <a:pt x="1738960" y="4725086"/>
                  </a:lnTo>
                  <a:lnTo>
                    <a:pt x="1740725" y="4714291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685800"/>
            <a:ext cx="7781861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7070">
              <a:lnSpc>
                <a:spcPct val="100000"/>
              </a:lnSpc>
              <a:spcBef>
                <a:spcPts val="105"/>
              </a:spcBef>
            </a:pPr>
            <a:r>
              <a:rPr spc="105" dirty="0">
                <a:solidFill>
                  <a:schemeClr val="tx1"/>
                </a:solidFill>
              </a:rPr>
              <a:t>Актуальность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847975" cy="6858000"/>
            <a:chOff x="0" y="0"/>
            <a:chExt cx="284797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847975" cy="6858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588770" cy="6858000"/>
            </a:xfrm>
            <a:custGeom>
              <a:avLst/>
              <a:gdLst/>
              <a:ahLst/>
              <a:cxnLst/>
              <a:rect l="l" t="t" r="r" b="b"/>
              <a:pathLst>
                <a:path w="1588770" h="6858000">
                  <a:moveTo>
                    <a:pt x="1588185" y="967663"/>
                  </a:moveTo>
                  <a:lnTo>
                    <a:pt x="1586433" y="960539"/>
                  </a:lnTo>
                  <a:lnTo>
                    <a:pt x="1581150" y="953389"/>
                  </a:lnTo>
                  <a:lnTo>
                    <a:pt x="1353185" y="725551"/>
                  </a:lnTo>
                  <a:lnTo>
                    <a:pt x="1348232" y="725551"/>
                  </a:lnTo>
                  <a:lnTo>
                    <a:pt x="1348232" y="720852"/>
                  </a:lnTo>
                  <a:lnTo>
                    <a:pt x="1343660" y="720852"/>
                  </a:lnTo>
                  <a:lnTo>
                    <a:pt x="1338834" y="716153"/>
                  </a:lnTo>
                  <a:lnTo>
                    <a:pt x="1243825" y="716153"/>
                  </a:lnTo>
                  <a:lnTo>
                    <a:pt x="180975" y="714629"/>
                  </a:lnTo>
                  <a:lnTo>
                    <a:pt x="180975" y="0"/>
                  </a:lnTo>
                  <a:lnTo>
                    <a:pt x="0" y="0"/>
                  </a:lnTo>
                  <a:lnTo>
                    <a:pt x="0" y="1215644"/>
                  </a:lnTo>
                  <a:lnTo>
                    <a:pt x="0" y="6858000"/>
                  </a:lnTo>
                  <a:lnTo>
                    <a:pt x="180975" y="6858000"/>
                  </a:lnTo>
                  <a:lnTo>
                    <a:pt x="180975" y="1216164"/>
                  </a:lnTo>
                  <a:lnTo>
                    <a:pt x="1243825" y="1219200"/>
                  </a:lnTo>
                  <a:lnTo>
                    <a:pt x="1343660" y="1219200"/>
                  </a:lnTo>
                  <a:lnTo>
                    <a:pt x="1348232" y="1214501"/>
                  </a:lnTo>
                  <a:lnTo>
                    <a:pt x="1349883" y="1212850"/>
                  </a:lnTo>
                  <a:lnTo>
                    <a:pt x="1351661" y="1211326"/>
                  </a:lnTo>
                  <a:lnTo>
                    <a:pt x="1353185" y="1209675"/>
                  </a:lnTo>
                  <a:lnTo>
                    <a:pt x="1581150" y="981837"/>
                  </a:lnTo>
                  <a:lnTo>
                    <a:pt x="1586433" y="974775"/>
                  </a:lnTo>
                  <a:lnTo>
                    <a:pt x="1588185" y="96766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71700" y="2286000"/>
            <a:ext cx="7848600" cy="1945276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080" indent="-342900" algn="just">
              <a:lnSpc>
                <a:spcPct val="100899"/>
              </a:lnSpc>
              <a:spcBef>
                <a:spcPts val="80"/>
              </a:spcBef>
              <a:tabLst>
                <a:tab pos="354965" algn="l"/>
              </a:tabLst>
            </a:pPr>
            <a:r>
              <a:rPr lang="ru-RU" spc="145" dirty="0" smtClean="0">
                <a:solidFill>
                  <a:schemeClr val="tx1"/>
                </a:solidFill>
                <a:latin typeface="Trebuchet MS"/>
                <a:cs typeface="Trebuchet MS"/>
              </a:rPr>
              <a:t>    С</a:t>
            </a:r>
            <a:r>
              <a:rPr sz="1800" spc="145" dirty="0" err="1" smtClean="0">
                <a:solidFill>
                  <a:schemeClr val="tx1"/>
                </a:solidFill>
                <a:latin typeface="Trebuchet MS"/>
                <a:cs typeface="Trebuchet MS"/>
              </a:rPr>
              <a:t>редний</a:t>
            </a:r>
            <a:r>
              <a:rPr sz="1800" spc="85" dirty="0" smtClean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chemeClr val="tx1"/>
                </a:solidFill>
                <a:latin typeface="Trebuchet MS"/>
                <a:cs typeface="Trebuchet MS"/>
              </a:rPr>
              <a:t>пользователь</a:t>
            </a:r>
            <a:r>
              <a:rPr sz="1800" spc="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chemeClr val="tx1"/>
                </a:solidFill>
                <a:latin typeface="Trebuchet MS"/>
                <a:cs typeface="Trebuchet MS"/>
              </a:rPr>
              <a:t>тратит</a:t>
            </a:r>
            <a:r>
              <a:rPr sz="1800" spc="-2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chemeClr val="tx1"/>
                </a:solidFill>
                <a:latin typeface="Trebuchet MS"/>
                <a:cs typeface="Trebuchet MS"/>
              </a:rPr>
              <a:t>более</a:t>
            </a:r>
            <a:r>
              <a:rPr sz="1800" spc="10" dirty="0">
                <a:solidFill>
                  <a:schemeClr val="tx1"/>
                </a:solidFill>
                <a:latin typeface="Trebuchet MS"/>
                <a:cs typeface="Trebuchet MS"/>
              </a:rPr>
              <a:t> 3</a:t>
            </a:r>
            <a:r>
              <a:rPr sz="1800" spc="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chemeClr val="tx1"/>
                </a:solidFill>
                <a:latin typeface="Trebuchet MS"/>
                <a:cs typeface="Trebuchet MS"/>
              </a:rPr>
              <a:t>часов</a:t>
            </a:r>
            <a:r>
              <a:rPr sz="1800" spc="1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chemeClr val="tx1"/>
                </a:solidFill>
                <a:latin typeface="Trebuchet MS"/>
                <a:cs typeface="Trebuchet MS"/>
              </a:rPr>
              <a:t>на</a:t>
            </a:r>
            <a:r>
              <a:rPr sz="1800" spc="3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95" dirty="0" err="1">
                <a:solidFill>
                  <a:schemeClr val="tx1"/>
                </a:solidFill>
                <a:latin typeface="Trebuchet MS"/>
                <a:cs typeface="Trebuchet MS"/>
              </a:rPr>
              <a:t>выбор</a:t>
            </a:r>
            <a:r>
              <a:rPr sz="1800" spc="3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-10" dirty="0" err="1" smtClean="0">
                <a:solidFill>
                  <a:schemeClr val="tx1"/>
                </a:solidFill>
                <a:latin typeface="Trebuchet MS"/>
                <a:cs typeface="Trebuchet MS"/>
              </a:rPr>
              <a:t>подарка</a:t>
            </a:r>
            <a:r>
              <a:rPr lang="ru-RU" spc="50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lang="ru-RU" spc="500" dirty="0" smtClean="0">
                <a:solidFill>
                  <a:schemeClr val="tx1"/>
                </a:solidFill>
                <a:latin typeface="Trebuchet MS"/>
                <a:cs typeface="Trebuchet MS"/>
              </a:rPr>
              <a:t>в </a:t>
            </a:r>
            <a:r>
              <a:rPr sz="1800" spc="40" dirty="0" err="1" smtClean="0">
                <a:solidFill>
                  <a:schemeClr val="tx1"/>
                </a:solidFill>
                <a:latin typeface="Trebuchet MS"/>
                <a:cs typeface="Trebuchet MS"/>
              </a:rPr>
              <a:t>интернете</a:t>
            </a:r>
            <a:r>
              <a:rPr sz="1800" spc="40" dirty="0">
                <a:solidFill>
                  <a:schemeClr val="tx1"/>
                </a:solidFill>
                <a:latin typeface="Trebuchet MS"/>
                <a:cs typeface="Trebuchet MS"/>
              </a:rPr>
              <a:t>.</a:t>
            </a:r>
            <a:endParaRPr sz="18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355600" marR="267335" indent="-342900" algn="just">
              <a:lnSpc>
                <a:spcPct val="101000"/>
              </a:lnSpc>
              <a:spcBef>
                <a:spcPts val="969"/>
              </a:spcBef>
              <a:tabLst>
                <a:tab pos="354965" algn="l"/>
              </a:tabLst>
            </a:pPr>
            <a:r>
              <a:rPr lang="ru-RU" spc="135" dirty="0" smtClean="0">
                <a:solidFill>
                  <a:schemeClr val="tx1"/>
                </a:solidFill>
                <a:latin typeface="Trebuchet MS"/>
                <a:cs typeface="Trebuchet MS"/>
              </a:rPr>
              <a:t>    О</a:t>
            </a:r>
            <a:r>
              <a:rPr sz="1800" spc="135" dirty="0" err="1" smtClean="0">
                <a:solidFill>
                  <a:schemeClr val="tx1"/>
                </a:solidFill>
                <a:latin typeface="Trebuchet MS"/>
                <a:cs typeface="Trebuchet MS"/>
              </a:rPr>
              <a:t>громный</a:t>
            </a:r>
            <a:r>
              <a:rPr sz="1800" spc="5" dirty="0" smtClean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chemeClr val="tx1"/>
                </a:solidFill>
                <a:latin typeface="Trebuchet MS"/>
                <a:cs typeface="Trebuchet MS"/>
              </a:rPr>
              <a:t>ассортимент</a:t>
            </a:r>
            <a:r>
              <a:rPr sz="1800" spc="-1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chemeClr val="tx1"/>
                </a:solidFill>
                <a:latin typeface="Trebuchet MS"/>
                <a:cs typeface="Trebuchet MS"/>
              </a:rPr>
              <a:t>маркетплейсов</a:t>
            </a:r>
            <a:r>
              <a:rPr sz="1800" spc="-1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chemeClr val="tx1"/>
                </a:solidFill>
                <a:latin typeface="Trebuchet MS"/>
                <a:cs typeface="Trebuchet MS"/>
              </a:rPr>
              <a:t>(Ozon,</a:t>
            </a:r>
            <a:r>
              <a:rPr sz="1800" spc="-2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-10" dirty="0" err="1" smtClean="0">
                <a:solidFill>
                  <a:schemeClr val="tx1"/>
                </a:solidFill>
                <a:latin typeface="Trebuchet MS"/>
                <a:cs typeface="Trebuchet MS"/>
              </a:rPr>
              <a:t>Wildberries</a:t>
            </a:r>
            <a:r>
              <a:rPr lang="ru-RU" spc="-10" dirty="0" smtClean="0">
                <a:solidFill>
                  <a:schemeClr val="tx1"/>
                </a:solidFill>
                <a:latin typeface="Trebuchet MS"/>
                <a:cs typeface="Trebuchet MS"/>
              </a:rPr>
              <a:t>) не </a:t>
            </a:r>
            <a:r>
              <a:rPr sz="1800" spc="100" dirty="0" err="1" smtClean="0">
                <a:solidFill>
                  <a:schemeClr val="tx1"/>
                </a:solidFill>
                <a:latin typeface="Trebuchet MS"/>
                <a:cs typeface="Trebuchet MS"/>
              </a:rPr>
              <a:t>помогает</a:t>
            </a:r>
            <a:r>
              <a:rPr sz="1800" spc="100" dirty="0">
                <a:solidFill>
                  <a:schemeClr val="tx1"/>
                </a:solidFill>
                <a:latin typeface="Trebuchet MS"/>
                <a:cs typeface="Trebuchet MS"/>
              </a:rPr>
              <a:t>,</a:t>
            </a:r>
            <a:r>
              <a:rPr sz="1800" spc="1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305" dirty="0">
                <a:solidFill>
                  <a:schemeClr val="tx1"/>
                </a:solidFill>
                <a:latin typeface="Trebuchet MS"/>
                <a:cs typeface="Trebuchet MS"/>
              </a:rPr>
              <a:t>а</a:t>
            </a:r>
            <a:r>
              <a:rPr sz="1800" spc="2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chemeClr val="tx1"/>
                </a:solidFill>
                <a:latin typeface="Trebuchet MS"/>
                <a:cs typeface="Trebuchet MS"/>
              </a:rPr>
              <a:t>усугубляет</a:t>
            </a:r>
            <a:r>
              <a:rPr sz="1800" spc="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chemeClr val="tx1"/>
                </a:solidFill>
                <a:latin typeface="Trebuchet MS"/>
                <a:cs typeface="Trebuchet MS"/>
              </a:rPr>
              <a:t>проблему</a:t>
            </a:r>
            <a:r>
              <a:rPr sz="1800" spc="3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chemeClr val="tx1"/>
                </a:solidFill>
                <a:latin typeface="Trebuchet MS"/>
                <a:cs typeface="Trebuchet MS"/>
              </a:rPr>
              <a:t>выбора.</a:t>
            </a:r>
            <a:endParaRPr sz="18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355600" marR="61594" indent="-342900" algn="just">
              <a:lnSpc>
                <a:spcPct val="100899"/>
              </a:lnSpc>
              <a:spcBef>
                <a:spcPts val="975"/>
              </a:spcBef>
              <a:tabLst>
                <a:tab pos="354965" algn="l"/>
              </a:tabLst>
            </a:pPr>
            <a:r>
              <a:rPr lang="ru-RU" sz="1800" spc="65" dirty="0" smtClean="0">
                <a:solidFill>
                  <a:schemeClr val="tx1"/>
                </a:solidFill>
                <a:latin typeface="Trebuchet MS"/>
                <a:cs typeface="Trebuchet MS"/>
              </a:rPr>
              <a:t>    Н</a:t>
            </a:r>
            <a:r>
              <a:rPr sz="1800" spc="65" dirty="0" err="1" smtClean="0">
                <a:solidFill>
                  <a:schemeClr val="tx1"/>
                </a:solidFill>
                <a:latin typeface="Trebuchet MS"/>
                <a:cs typeface="Trebuchet MS"/>
              </a:rPr>
              <a:t>еудачный</a:t>
            </a:r>
            <a:r>
              <a:rPr sz="1800" spc="20" dirty="0" smtClean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chemeClr val="tx1"/>
                </a:solidFill>
                <a:latin typeface="Trebuchet MS"/>
                <a:cs typeface="Trebuchet MS"/>
              </a:rPr>
              <a:t>подарок</a:t>
            </a:r>
            <a:r>
              <a:rPr sz="1800" spc="-8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475" dirty="0">
                <a:solidFill>
                  <a:schemeClr val="tx1"/>
                </a:solidFill>
                <a:latin typeface="Trebuchet MS"/>
                <a:cs typeface="Trebuchet MS"/>
              </a:rPr>
              <a:t>—</a:t>
            </a:r>
            <a:r>
              <a:rPr sz="1800" spc="-2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chemeClr val="tx1"/>
                </a:solidFill>
                <a:latin typeface="Trebuchet MS"/>
                <a:cs typeface="Trebuchet MS"/>
              </a:rPr>
              <a:t>это</a:t>
            </a:r>
            <a:r>
              <a:rPr sz="1800"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chemeClr val="tx1"/>
                </a:solidFill>
                <a:latin typeface="Trebuchet MS"/>
                <a:cs typeface="Trebuchet MS"/>
              </a:rPr>
              <a:t>выброшенные</a:t>
            </a:r>
            <a:r>
              <a:rPr sz="1800" spc="3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chemeClr val="tx1"/>
                </a:solidFill>
                <a:latin typeface="Trebuchet MS"/>
                <a:cs typeface="Trebuchet MS"/>
              </a:rPr>
              <a:t>деньги</a:t>
            </a:r>
            <a:r>
              <a:rPr sz="1800" spc="1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chemeClr val="tx1"/>
                </a:solidFill>
                <a:latin typeface="Trebuchet MS"/>
                <a:cs typeface="Trebuchet MS"/>
              </a:rPr>
              <a:t>и</a:t>
            </a:r>
            <a:r>
              <a:rPr sz="1800"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Trebuchet MS"/>
                <a:cs typeface="Trebuchet MS"/>
              </a:rPr>
              <a:t>испорченное</a:t>
            </a:r>
            <a:r>
              <a:rPr sz="1800" spc="500" dirty="0">
                <a:solidFill>
                  <a:schemeClr val="tx1"/>
                </a:solidFill>
                <a:latin typeface="Trebuchet MS"/>
                <a:cs typeface="Trebuchet MS"/>
              </a:rPr>
              <a:t>    </a:t>
            </a:r>
            <a:r>
              <a:rPr sz="1800" spc="100" dirty="0">
                <a:solidFill>
                  <a:schemeClr val="tx1"/>
                </a:solidFill>
                <a:latin typeface="Trebuchet MS"/>
                <a:cs typeface="Trebuchet MS"/>
              </a:rPr>
              <a:t>настроение.</a:t>
            </a:r>
            <a:endParaRPr sz="18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90775" y="4324349"/>
            <a:ext cx="8239125" cy="2533650"/>
            <a:chOff x="2390775" y="4324349"/>
            <a:chExt cx="8239125" cy="253365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0775" y="4343399"/>
              <a:ext cx="2562225" cy="25145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5400" y="4343399"/>
              <a:ext cx="2867025" cy="25145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4825" y="4324349"/>
              <a:ext cx="2505075" cy="25336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8662" y="648588"/>
            <a:ext cx="7781861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75" dirty="0" err="1" smtClean="0">
                <a:solidFill>
                  <a:schemeClr val="tx1"/>
                </a:solidFill>
              </a:rPr>
              <a:t>Цель</a:t>
            </a:r>
            <a:r>
              <a:rPr lang="ru-RU" spc="75" dirty="0" smtClean="0">
                <a:solidFill>
                  <a:schemeClr val="tx1"/>
                </a:solidFill>
              </a:rPr>
              <a:t> и план</a:t>
            </a:r>
            <a:endParaRPr spc="75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038225" cy="6858000"/>
          </a:xfrm>
          <a:custGeom>
            <a:avLst/>
            <a:gdLst/>
            <a:ahLst/>
            <a:cxnLst/>
            <a:rect l="l" t="t" r="r" b="b"/>
            <a:pathLst>
              <a:path w="1038225" h="6858000">
                <a:moveTo>
                  <a:pt x="1038225" y="6315443"/>
                </a:moveTo>
                <a:lnTo>
                  <a:pt x="1036447" y="6308179"/>
                </a:lnTo>
                <a:lnTo>
                  <a:pt x="1031138" y="6300902"/>
                </a:lnTo>
                <a:lnTo>
                  <a:pt x="802132" y="6068301"/>
                </a:lnTo>
                <a:lnTo>
                  <a:pt x="797140" y="6068301"/>
                </a:lnTo>
                <a:lnTo>
                  <a:pt x="797140" y="6063462"/>
                </a:lnTo>
                <a:lnTo>
                  <a:pt x="792505" y="6063462"/>
                </a:lnTo>
                <a:lnTo>
                  <a:pt x="787692" y="6058611"/>
                </a:lnTo>
                <a:lnTo>
                  <a:pt x="692175" y="6058611"/>
                </a:lnTo>
                <a:lnTo>
                  <a:pt x="291757" y="6058052"/>
                </a:lnTo>
                <a:lnTo>
                  <a:pt x="291757" y="6057900"/>
                </a:lnTo>
                <a:lnTo>
                  <a:pt x="180975" y="6057900"/>
                </a:lnTo>
                <a:lnTo>
                  <a:pt x="180975" y="0"/>
                </a:lnTo>
                <a:lnTo>
                  <a:pt x="0" y="0"/>
                </a:lnTo>
                <a:lnTo>
                  <a:pt x="0" y="6057900"/>
                </a:lnTo>
                <a:lnTo>
                  <a:pt x="0" y="6572250"/>
                </a:lnTo>
                <a:lnTo>
                  <a:pt x="0" y="6858000"/>
                </a:lnTo>
                <a:lnTo>
                  <a:pt x="180975" y="6858000"/>
                </a:lnTo>
                <a:lnTo>
                  <a:pt x="180975" y="6572250"/>
                </a:lnTo>
                <a:lnTo>
                  <a:pt x="291757" y="6572250"/>
                </a:lnTo>
                <a:lnTo>
                  <a:pt x="291757" y="6571094"/>
                </a:lnTo>
                <a:lnTo>
                  <a:pt x="692175" y="6572250"/>
                </a:lnTo>
                <a:lnTo>
                  <a:pt x="792505" y="6572250"/>
                </a:lnTo>
                <a:lnTo>
                  <a:pt x="793610" y="6571094"/>
                </a:lnTo>
                <a:lnTo>
                  <a:pt x="797140" y="6567411"/>
                </a:lnTo>
                <a:lnTo>
                  <a:pt x="798690" y="6565760"/>
                </a:lnTo>
                <a:lnTo>
                  <a:pt x="800582" y="6564211"/>
                </a:lnTo>
                <a:lnTo>
                  <a:pt x="802132" y="6562560"/>
                </a:lnTo>
                <a:lnTo>
                  <a:pt x="1031138" y="6329972"/>
                </a:lnTo>
                <a:lnTo>
                  <a:pt x="1036447" y="6322708"/>
                </a:lnTo>
                <a:lnTo>
                  <a:pt x="1038225" y="6315443"/>
                </a:lnTo>
                <a:close/>
              </a:path>
            </a:pathLst>
          </a:custGeom>
          <a:solidFill>
            <a:srgbClr val="DE31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8662" y="2159952"/>
            <a:ext cx="3767138" cy="3492238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888365">
              <a:lnSpc>
                <a:spcPct val="100899"/>
              </a:lnSpc>
              <a:spcBef>
                <a:spcPts val="80"/>
              </a:spcBef>
            </a:pPr>
            <a:r>
              <a:rPr lang="ru-RU" sz="1400" spc="90" dirty="0" smtClean="0">
                <a:solidFill>
                  <a:schemeClr val="tx1"/>
                </a:solidFill>
                <a:latin typeface="Trebuchet MS"/>
                <a:cs typeface="Trebuchet MS"/>
              </a:rPr>
              <a:t>Цель: </a:t>
            </a:r>
            <a:r>
              <a:rPr sz="1400" spc="90" dirty="0" err="1" smtClean="0">
                <a:solidFill>
                  <a:schemeClr val="tx1"/>
                </a:solidFill>
                <a:latin typeface="Trebuchet MS"/>
                <a:cs typeface="Trebuchet MS"/>
              </a:rPr>
              <a:t>Создать</a:t>
            </a:r>
            <a:r>
              <a:rPr sz="1400" spc="-35" dirty="0" smtClean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400" spc="170" dirty="0">
                <a:solidFill>
                  <a:schemeClr val="tx1"/>
                </a:solidFill>
                <a:latin typeface="Trebuchet MS"/>
                <a:cs typeface="Trebuchet MS"/>
              </a:rPr>
              <a:t>работающий </a:t>
            </a:r>
            <a:r>
              <a:rPr sz="1400" spc="70" dirty="0">
                <a:solidFill>
                  <a:schemeClr val="tx1"/>
                </a:solidFill>
                <a:latin typeface="Trebuchet MS"/>
                <a:cs typeface="Trebuchet MS"/>
              </a:rPr>
              <a:t>прототип</a:t>
            </a:r>
            <a:r>
              <a:rPr sz="1400" spc="-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400" spc="260" dirty="0">
                <a:solidFill>
                  <a:schemeClr val="tx1"/>
                </a:solidFill>
                <a:latin typeface="Trebuchet MS"/>
                <a:cs typeface="Trebuchet MS"/>
              </a:rPr>
              <a:t>с</a:t>
            </a:r>
            <a:r>
              <a:rPr sz="1400" spc="-5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400" spc="120" dirty="0">
                <a:solidFill>
                  <a:schemeClr val="tx1"/>
                </a:solidFill>
                <a:latin typeface="Trebuchet MS"/>
                <a:cs typeface="Trebuchet MS"/>
              </a:rPr>
              <a:t>базовым</a:t>
            </a:r>
            <a:endParaRPr sz="14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00800"/>
              </a:lnSpc>
            </a:pPr>
            <a:r>
              <a:rPr sz="1400" spc="95" dirty="0">
                <a:solidFill>
                  <a:schemeClr val="tx1"/>
                </a:solidFill>
                <a:latin typeface="Trebuchet MS"/>
                <a:cs typeface="Trebuchet MS"/>
              </a:rPr>
              <a:t>искусственным</a:t>
            </a:r>
            <a:r>
              <a:rPr sz="1400" spc="-2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Trebuchet MS"/>
                <a:cs typeface="Trebuchet MS"/>
              </a:rPr>
              <a:t>интеллектом, </a:t>
            </a:r>
            <a:r>
              <a:rPr sz="1400" spc="70" dirty="0">
                <a:solidFill>
                  <a:schemeClr val="tx1"/>
                </a:solidFill>
                <a:latin typeface="Trebuchet MS"/>
                <a:cs typeface="Trebuchet MS"/>
              </a:rPr>
              <a:t>который</a:t>
            </a:r>
            <a:r>
              <a:rPr sz="1400" spc="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400" spc="165" dirty="0">
                <a:solidFill>
                  <a:schemeClr val="tx1"/>
                </a:solidFill>
                <a:latin typeface="Trebuchet MS"/>
                <a:cs typeface="Trebuchet MS"/>
              </a:rPr>
              <a:t>решает</a:t>
            </a:r>
            <a:r>
              <a:rPr sz="1400" spc="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400" spc="35" dirty="0">
                <a:solidFill>
                  <a:schemeClr val="tx1"/>
                </a:solidFill>
                <a:latin typeface="Trebuchet MS"/>
                <a:cs typeface="Trebuchet MS"/>
              </a:rPr>
              <a:t>ключевую </a:t>
            </a:r>
            <a:r>
              <a:rPr sz="1400" spc="160" dirty="0">
                <a:solidFill>
                  <a:schemeClr val="tx1"/>
                </a:solidFill>
                <a:latin typeface="Trebuchet MS"/>
                <a:cs typeface="Trebuchet MS"/>
              </a:rPr>
              <a:t>проблему</a:t>
            </a:r>
            <a:r>
              <a:rPr sz="1400" spc="-6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400" spc="180" dirty="0" err="1">
                <a:solidFill>
                  <a:schemeClr val="tx1"/>
                </a:solidFill>
                <a:latin typeface="Trebuchet MS"/>
                <a:cs typeface="Trebuchet MS"/>
              </a:rPr>
              <a:t>подбора</a:t>
            </a:r>
            <a:r>
              <a:rPr sz="1400" spc="-2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400" spc="100" dirty="0" err="1" smtClean="0">
                <a:solidFill>
                  <a:schemeClr val="tx1"/>
                </a:solidFill>
                <a:latin typeface="Trebuchet MS"/>
                <a:cs typeface="Trebuchet MS"/>
              </a:rPr>
              <a:t>подарка</a:t>
            </a:r>
            <a:r>
              <a:rPr lang="ru-RU" sz="1400" spc="100" dirty="0" smtClean="0">
                <a:solidFill>
                  <a:schemeClr val="tx1"/>
                </a:solidFill>
                <a:latin typeface="Trebuchet MS"/>
                <a:cs typeface="Trebuchet MS"/>
              </a:rPr>
              <a:t>.</a:t>
            </a:r>
          </a:p>
          <a:p>
            <a:pPr marL="12700" marR="5080">
              <a:lnSpc>
                <a:spcPct val="100800"/>
              </a:lnSpc>
            </a:pPr>
            <a:endParaRPr lang="ru-RU" sz="1400" spc="1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00800"/>
              </a:lnSpc>
            </a:pPr>
            <a:r>
              <a:rPr lang="ru-RU" sz="1400" spc="100" dirty="0" smtClean="0">
                <a:solidFill>
                  <a:schemeClr val="tx1"/>
                </a:solidFill>
                <a:latin typeface="Trebuchet MS"/>
                <a:cs typeface="Trebuchet MS"/>
              </a:rPr>
              <a:t>План выполнения проекта: </a:t>
            </a:r>
          </a:p>
          <a:p>
            <a:pPr marL="355600" marR="5080" indent="-342900">
              <a:lnSpc>
                <a:spcPct val="100800"/>
              </a:lnSpc>
              <a:buAutoNum type="arabicPeriod"/>
            </a:pPr>
            <a:r>
              <a:rPr lang="ru-RU" sz="1400" dirty="0" smtClean="0">
                <a:solidFill>
                  <a:schemeClr val="tx1"/>
                </a:solidFill>
                <a:latin typeface="Trebuchet MS"/>
                <a:cs typeface="Trebuchet MS"/>
              </a:rPr>
              <a:t>Анализ и постановка задачи.</a:t>
            </a:r>
          </a:p>
          <a:p>
            <a:pPr marL="355600" marR="5080" indent="-342900">
              <a:lnSpc>
                <a:spcPct val="100800"/>
              </a:lnSpc>
              <a:buAutoNum type="arabicPeriod"/>
            </a:pPr>
            <a:r>
              <a:rPr lang="ru-RU" sz="1400" dirty="0" smtClean="0">
                <a:solidFill>
                  <a:schemeClr val="tx1"/>
                </a:solidFill>
                <a:latin typeface="Trebuchet MS"/>
                <a:cs typeface="Trebuchet MS"/>
              </a:rPr>
              <a:t>Проектирование структуры приложения.</a:t>
            </a:r>
          </a:p>
          <a:p>
            <a:pPr marL="355600" marR="5080" indent="-342900">
              <a:lnSpc>
                <a:spcPct val="100800"/>
              </a:lnSpc>
              <a:buAutoNum type="arabicPeriod"/>
            </a:pPr>
            <a:r>
              <a:rPr lang="ru-RU" sz="1400" dirty="0" smtClean="0">
                <a:solidFill>
                  <a:schemeClr val="tx1"/>
                </a:solidFill>
                <a:latin typeface="Trebuchet MS"/>
                <a:cs typeface="Trebuchet MS"/>
              </a:rPr>
              <a:t>Настройка инфраструктуры.</a:t>
            </a:r>
          </a:p>
          <a:p>
            <a:pPr marL="355600" marR="5080" indent="-342900">
              <a:lnSpc>
                <a:spcPct val="100800"/>
              </a:lnSpc>
              <a:buAutoNum type="arabicPeriod"/>
            </a:pPr>
            <a:r>
              <a:rPr lang="ru-RU" sz="1400" dirty="0" smtClean="0">
                <a:solidFill>
                  <a:schemeClr val="tx1"/>
                </a:solidFill>
                <a:latin typeface="Trebuchet MS"/>
                <a:cs typeface="Trebuchet MS"/>
              </a:rPr>
              <a:t>Реализация модулей приложения.</a:t>
            </a:r>
          </a:p>
          <a:p>
            <a:pPr marL="355600" marR="5080" indent="-342900">
              <a:lnSpc>
                <a:spcPct val="100800"/>
              </a:lnSpc>
              <a:buAutoNum type="arabicPeriod"/>
            </a:pPr>
            <a:r>
              <a:rPr lang="ru-RU" sz="1400" dirty="0" smtClean="0">
                <a:solidFill>
                  <a:schemeClr val="tx1"/>
                </a:solidFill>
                <a:latin typeface="Trebuchet MS"/>
                <a:cs typeface="Trebuchet MS"/>
              </a:rPr>
              <a:t>Тестирование.</a:t>
            </a:r>
          </a:p>
          <a:p>
            <a:pPr marL="355600" marR="5080" indent="-342900">
              <a:lnSpc>
                <a:spcPct val="100800"/>
              </a:lnSpc>
              <a:buAutoNum type="arabicPeriod"/>
            </a:pPr>
            <a:r>
              <a:rPr lang="ru-RU" sz="1400" dirty="0" smtClean="0">
                <a:solidFill>
                  <a:schemeClr val="tx1"/>
                </a:solidFill>
                <a:latin typeface="Trebuchet MS"/>
                <a:cs typeface="Trebuchet MS"/>
              </a:rPr>
              <a:t>Оптимизация и исправление ошибок.</a:t>
            </a:r>
          </a:p>
          <a:p>
            <a:pPr marL="355600" marR="5080" indent="-342900">
              <a:lnSpc>
                <a:spcPct val="100800"/>
              </a:lnSpc>
              <a:buAutoNum type="arabicPeriod"/>
            </a:pPr>
            <a:r>
              <a:rPr lang="ru-RU" sz="1400" dirty="0" smtClean="0">
                <a:solidFill>
                  <a:schemeClr val="tx1"/>
                </a:solidFill>
                <a:latin typeface="Trebuchet MS"/>
                <a:cs typeface="Trebuchet MS"/>
              </a:rPr>
              <a:t>Подготовка документации.</a:t>
            </a:r>
          </a:p>
          <a:p>
            <a:pPr marL="355600" marR="5080" indent="-342900">
              <a:lnSpc>
                <a:spcPct val="100800"/>
              </a:lnSpc>
              <a:buAutoNum type="arabicPeriod"/>
            </a:pPr>
            <a:r>
              <a:rPr lang="ru-RU" sz="1400" dirty="0" smtClean="0">
                <a:solidFill>
                  <a:schemeClr val="tx1"/>
                </a:solidFill>
                <a:latin typeface="Trebuchet MS"/>
                <a:cs typeface="Trebuchet MS"/>
              </a:rPr>
              <a:t>Формирование итоговой сборки.</a:t>
            </a:r>
          </a:p>
          <a:p>
            <a:pPr marL="355600" marR="5080" indent="-342900">
              <a:lnSpc>
                <a:spcPct val="100800"/>
              </a:lnSpc>
              <a:buAutoNum type="arabicPeriod"/>
            </a:pPr>
            <a:r>
              <a:rPr lang="ru-RU" sz="1400" dirty="0" smtClean="0">
                <a:solidFill>
                  <a:schemeClr val="tx1"/>
                </a:solidFill>
                <a:latin typeface="Trebuchet MS"/>
                <a:cs typeface="Trebuchet MS"/>
              </a:rPr>
              <a:t>Защита проекта.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229225" y="647700"/>
            <a:ext cx="6276975" cy="5410200"/>
            <a:chOff x="5229225" y="647700"/>
            <a:chExt cx="6276975" cy="54102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9225" y="3028950"/>
              <a:ext cx="4048125" cy="30289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8050" y="1962150"/>
              <a:ext cx="2504948" cy="2133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20150" y="647700"/>
              <a:ext cx="2686050" cy="5257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7070">
              <a:lnSpc>
                <a:spcPct val="100000"/>
              </a:lnSpc>
              <a:spcBef>
                <a:spcPts val="105"/>
              </a:spcBef>
            </a:pPr>
            <a:r>
              <a:rPr spc="200" dirty="0"/>
              <a:t>Анализ</a:t>
            </a:r>
            <a:r>
              <a:rPr spc="-50" dirty="0"/>
              <a:t> </a:t>
            </a:r>
            <a:r>
              <a:rPr spc="110" dirty="0"/>
              <a:t>конкурентов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0200" y="2520333"/>
            <a:ext cx="8628380" cy="1968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ru-RU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ru-RU" spc="75" dirty="0" smtClean="0">
                <a:solidFill>
                  <a:srgbClr val="FFFFFF"/>
                </a:solidFill>
                <a:latin typeface="Trebuchet MS"/>
                <a:cs typeface="Trebuchet MS"/>
              </a:rPr>
              <a:t>   1. </a:t>
            </a:r>
            <a:r>
              <a:rPr sz="1800" spc="75" dirty="0" err="1" smtClean="0">
                <a:solidFill>
                  <a:srgbClr val="FFFFFF"/>
                </a:solidFill>
                <a:latin typeface="Trebuchet MS"/>
                <a:cs typeface="Trebuchet MS"/>
              </a:rPr>
              <a:t>Агрегаторы-</a:t>
            </a:r>
            <a:r>
              <a:rPr sz="1800" spc="95" dirty="0" err="1" smtClean="0">
                <a:solidFill>
                  <a:srgbClr val="FFFFFF"/>
                </a:solidFill>
                <a:latin typeface="Trebuchet MS"/>
                <a:cs typeface="Trebuchet MS"/>
              </a:rPr>
              <a:t>маркетплейсы</a:t>
            </a:r>
            <a:r>
              <a:rPr sz="1800" spc="95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rebuchet MS"/>
                <a:cs typeface="Trebuchet MS"/>
              </a:rPr>
              <a:t>Ozon,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Wildberries,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rebuchet MS"/>
                <a:cs typeface="Trebuchet MS"/>
              </a:rPr>
              <a:t>Яндекс.Маркет.</a:t>
            </a:r>
            <a:endParaRPr sz="1800" dirty="0">
              <a:latin typeface="Trebuchet MS"/>
              <a:cs typeface="Trebuchet MS"/>
            </a:endParaRPr>
          </a:p>
          <a:p>
            <a:pPr marL="355600" marR="289560">
              <a:lnSpc>
                <a:spcPct val="100800"/>
              </a:lnSpc>
              <a:spcBef>
                <a:spcPts val="5"/>
              </a:spcBef>
            </a:pPr>
            <a:r>
              <a:rPr sz="1800" spc="105" dirty="0">
                <a:solidFill>
                  <a:srgbClr val="FFFFFF"/>
                </a:solidFill>
                <a:latin typeface="Trebuchet MS"/>
                <a:cs typeface="Trebuchet MS"/>
              </a:rPr>
              <a:t>Предлагают</a:t>
            </a: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rebuchet MS"/>
                <a:cs typeface="Trebuchet MS"/>
              </a:rPr>
              <a:t>поиск,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305" dirty="0">
                <a:solidFill>
                  <a:srgbClr val="FFFFFF"/>
                </a:solidFill>
                <a:latin typeface="Trebuchet MS"/>
                <a:cs typeface="Trebuchet MS"/>
              </a:rPr>
              <a:t>а</a:t>
            </a: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rebuchet MS"/>
                <a:cs typeface="Trebuchet MS"/>
              </a:rPr>
              <a:t>не</a:t>
            </a: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идеи.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Нет</a:t>
            </a:r>
            <a:r>
              <a:rPr sz="18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Trebuchet MS"/>
                <a:cs typeface="Trebuchet MS"/>
              </a:rPr>
              <a:t>работы</a:t>
            </a:r>
            <a:r>
              <a:rPr sz="18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60" dirty="0">
                <a:solidFill>
                  <a:srgbClr val="FFFFFF"/>
                </a:solidFill>
                <a:latin typeface="Trebuchet MS"/>
                <a:cs typeface="Trebuchet MS"/>
              </a:rPr>
              <a:t>с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Trebuchet MS"/>
                <a:cs typeface="Trebuchet MS"/>
              </a:rPr>
              <a:t>контекстом</a:t>
            </a:r>
            <a:r>
              <a:rPr sz="18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sz="18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00" dirty="0" err="1">
                <a:solidFill>
                  <a:srgbClr val="FFFFFF"/>
                </a:solidFill>
                <a:latin typeface="Trebuchet MS"/>
                <a:cs typeface="Trebuchet MS"/>
              </a:rPr>
              <a:t>сложными</a:t>
            </a:r>
            <a:r>
              <a:rPr sz="18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45" dirty="0" err="1" smtClean="0">
                <a:solidFill>
                  <a:srgbClr val="FFFFFF"/>
                </a:solidFill>
                <a:latin typeface="Trebuchet MS"/>
                <a:cs typeface="Trebuchet MS"/>
              </a:rPr>
              <a:t>запросами</a:t>
            </a:r>
            <a:r>
              <a:rPr sz="1800" spc="145" dirty="0" smtClean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lang="ru-RU" dirty="0">
              <a:latin typeface="Trebuchet MS"/>
              <a:cs typeface="Trebuchet MS"/>
            </a:endParaRPr>
          </a:p>
          <a:p>
            <a:pPr marL="355600" marR="289560">
              <a:lnSpc>
                <a:spcPct val="100800"/>
              </a:lnSpc>
              <a:spcBef>
                <a:spcPts val="5"/>
              </a:spcBef>
            </a:pPr>
            <a:r>
              <a:rPr lang="ru-RU" sz="1800" spc="140" dirty="0" smtClean="0">
                <a:solidFill>
                  <a:srgbClr val="FFFFFF"/>
                </a:solidFill>
                <a:latin typeface="Trebuchet MS"/>
                <a:cs typeface="Trebuchet MS"/>
              </a:rPr>
              <a:t>2. </a:t>
            </a:r>
            <a:r>
              <a:rPr sz="1800" spc="140" dirty="0" err="1" smtClean="0">
                <a:solidFill>
                  <a:srgbClr val="FFFFFF"/>
                </a:solidFill>
                <a:latin typeface="Trebuchet MS"/>
                <a:cs typeface="Trebuchet MS"/>
              </a:rPr>
              <a:t>Сервисы</a:t>
            </a:r>
            <a:r>
              <a:rPr sz="1800" spc="30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60" dirty="0">
                <a:solidFill>
                  <a:srgbClr val="FFFFFF"/>
                </a:solidFill>
                <a:latin typeface="Trebuchet MS"/>
                <a:cs typeface="Trebuchet MS"/>
              </a:rPr>
              <a:t>с</a:t>
            </a: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rebuchet MS"/>
                <a:cs typeface="Trebuchet MS"/>
              </a:rPr>
              <a:t>ручными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Trebuchet MS"/>
                <a:cs typeface="Trebuchet MS"/>
              </a:rPr>
              <a:t>подборками.</a:t>
            </a:r>
            <a:r>
              <a:rPr sz="18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rebuchet MS"/>
                <a:cs typeface="Trebuchet MS"/>
              </a:rPr>
              <a:t>Тематические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блоги,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45" dirty="0" smtClean="0">
                <a:solidFill>
                  <a:srgbClr val="FFFFFF"/>
                </a:solidFill>
                <a:latin typeface="Trebuchet MS"/>
                <a:cs typeface="Trebuchet MS"/>
              </a:rPr>
              <a:t>YouTube.</a:t>
            </a:r>
            <a:endParaRPr lang="ru-RU" spc="7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5600" marR="289560">
              <a:lnSpc>
                <a:spcPct val="100800"/>
              </a:lnSpc>
              <a:spcBef>
                <a:spcPts val="5"/>
              </a:spcBef>
            </a:pPr>
            <a:r>
              <a:rPr lang="ru-RU" sz="1800" spc="70" dirty="0" smtClean="0">
                <a:solidFill>
                  <a:srgbClr val="FFFFFF"/>
                </a:solidFill>
                <a:latin typeface="Trebuchet MS"/>
                <a:cs typeface="Trebuchet MS"/>
              </a:rPr>
              <a:t>Идеи </a:t>
            </a:r>
            <a:r>
              <a:rPr sz="1800" spc="90" dirty="0" err="1" smtClean="0">
                <a:solidFill>
                  <a:srgbClr val="FFFFFF"/>
                </a:solidFill>
                <a:latin typeface="Trebuchet MS"/>
                <a:cs typeface="Trebuchet MS"/>
              </a:rPr>
              <a:t>устаревают</a:t>
            </a:r>
            <a:r>
              <a:rPr sz="1800" spc="90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нет </a:t>
            </a:r>
            <a:r>
              <a:rPr sz="1800" spc="120" dirty="0">
                <a:solidFill>
                  <a:srgbClr val="FFFFFF"/>
                </a:solidFill>
                <a:latin typeface="Trebuchet MS"/>
                <a:cs typeface="Trebuchet MS"/>
              </a:rPr>
              <a:t>моментального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Trebuchet MS"/>
                <a:cs typeface="Trebuchet MS"/>
              </a:rPr>
              <a:t>перехода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к</a:t>
            </a: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rebuchet MS"/>
                <a:cs typeface="Trebuchet MS"/>
              </a:rPr>
              <a:t>покупке.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30" dirty="0" err="1">
                <a:solidFill>
                  <a:srgbClr val="FFFFFF"/>
                </a:solidFill>
                <a:latin typeface="Trebuchet MS"/>
                <a:cs typeface="Trebuchet MS"/>
              </a:rPr>
              <a:t>Не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35" dirty="0" err="1" smtClean="0">
                <a:solidFill>
                  <a:srgbClr val="FFFFFF"/>
                </a:solidFill>
                <a:latin typeface="Trebuchet MS"/>
                <a:cs typeface="Trebuchet MS"/>
              </a:rPr>
              <a:t>интерактивно</a:t>
            </a:r>
            <a:r>
              <a:rPr sz="1800" spc="35" dirty="0" smtClean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lang="ru-RU" dirty="0">
              <a:latin typeface="Trebuchet MS"/>
              <a:cs typeface="Trebuchet MS"/>
            </a:endParaRPr>
          </a:p>
          <a:p>
            <a:pPr marL="355600" marR="289560">
              <a:lnSpc>
                <a:spcPct val="100800"/>
              </a:lnSpc>
              <a:spcBef>
                <a:spcPts val="5"/>
              </a:spcBef>
            </a:pPr>
            <a:r>
              <a:rPr lang="ru-RU" sz="1800" spc="100" dirty="0" smtClean="0">
                <a:solidFill>
                  <a:srgbClr val="FFFFFF"/>
                </a:solidFill>
                <a:latin typeface="Trebuchet MS"/>
                <a:cs typeface="Trebuchet MS"/>
              </a:rPr>
              <a:t>3. </a:t>
            </a:r>
            <a:r>
              <a:rPr sz="1800" spc="100" dirty="0" err="1" smtClean="0">
                <a:solidFill>
                  <a:srgbClr val="FFFFFF"/>
                </a:solidFill>
                <a:latin typeface="Trebuchet MS"/>
                <a:cs typeface="Trebuchet MS"/>
              </a:rPr>
              <a:t>Аналогов</a:t>
            </a:r>
            <a:r>
              <a:rPr sz="1800" spc="-35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Trebuchet MS"/>
                <a:cs typeface="Trebuchet MS"/>
              </a:rPr>
              <a:t>данного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rebuchet MS"/>
                <a:cs typeface="Trebuchet MS"/>
              </a:rPr>
              <a:t>приложения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rebuchet MS"/>
                <a:cs typeface="Trebuchet MS"/>
              </a:rPr>
              <a:t>не</a:t>
            </a:r>
            <a:r>
              <a:rPr sz="18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rebuchet MS"/>
                <a:cs typeface="Trebuchet MS"/>
              </a:rPr>
              <a:t>было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Trebuchet MS"/>
                <a:cs typeface="Trebuchet MS"/>
              </a:rPr>
              <a:t>обнаружено.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4233" y="6234506"/>
            <a:ext cx="190373" cy="19030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059862" y="3792537"/>
            <a:ext cx="2987675" cy="2806700"/>
            <a:chOff x="9059862" y="3792537"/>
            <a:chExt cx="2987675" cy="2806700"/>
          </a:xfrm>
        </p:grpSpPr>
        <p:sp>
          <p:nvSpPr>
            <p:cNvPr id="6" name="object 6"/>
            <p:cNvSpPr/>
            <p:nvPr/>
          </p:nvSpPr>
          <p:spPr>
            <a:xfrm>
              <a:off x="9242170" y="3800475"/>
              <a:ext cx="2797810" cy="2790825"/>
            </a:xfrm>
            <a:custGeom>
              <a:avLst/>
              <a:gdLst/>
              <a:ahLst/>
              <a:cxnLst/>
              <a:rect l="l" t="t" r="r" b="b"/>
              <a:pathLst>
                <a:path w="2797809" h="2790825">
                  <a:moveTo>
                    <a:pt x="2623057" y="0"/>
                  </a:moveTo>
                  <a:lnTo>
                    <a:pt x="348869" y="0"/>
                  </a:lnTo>
                  <a:lnTo>
                    <a:pt x="302526" y="6231"/>
                  </a:lnTo>
                  <a:lnTo>
                    <a:pt x="260876" y="23814"/>
                  </a:lnTo>
                  <a:lnTo>
                    <a:pt x="225583" y="51085"/>
                  </a:lnTo>
                  <a:lnTo>
                    <a:pt x="198312" y="86378"/>
                  </a:lnTo>
                  <a:lnTo>
                    <a:pt x="180729" y="128028"/>
                  </a:lnTo>
                  <a:lnTo>
                    <a:pt x="174498" y="174370"/>
                  </a:lnTo>
                  <a:lnTo>
                    <a:pt x="174498" y="2441968"/>
                  </a:lnTo>
                  <a:lnTo>
                    <a:pt x="0" y="2441968"/>
                  </a:lnTo>
                  <a:lnTo>
                    <a:pt x="33992" y="2448823"/>
                  </a:lnTo>
                  <a:lnTo>
                    <a:pt x="61722" y="2467514"/>
                  </a:lnTo>
                  <a:lnTo>
                    <a:pt x="80402" y="2495236"/>
                  </a:lnTo>
                  <a:lnTo>
                    <a:pt x="87249" y="2529179"/>
                  </a:lnTo>
                  <a:lnTo>
                    <a:pt x="80402" y="2563130"/>
                  </a:lnTo>
                  <a:lnTo>
                    <a:pt x="61721" y="2590855"/>
                  </a:lnTo>
                  <a:lnTo>
                    <a:pt x="33992" y="2609548"/>
                  </a:lnTo>
                  <a:lnTo>
                    <a:pt x="0" y="2616403"/>
                  </a:lnTo>
                  <a:lnTo>
                    <a:pt x="174498" y="2616403"/>
                  </a:lnTo>
                  <a:lnTo>
                    <a:pt x="168266" y="2662771"/>
                  </a:lnTo>
                  <a:lnTo>
                    <a:pt x="150678" y="2704436"/>
                  </a:lnTo>
                  <a:lnTo>
                    <a:pt x="123396" y="2739737"/>
                  </a:lnTo>
                  <a:lnTo>
                    <a:pt x="88081" y="2767011"/>
                  </a:lnTo>
                  <a:lnTo>
                    <a:pt x="46395" y="2784594"/>
                  </a:lnTo>
                  <a:lnTo>
                    <a:pt x="0" y="2790825"/>
                  </a:lnTo>
                  <a:lnTo>
                    <a:pt x="2274188" y="2790825"/>
                  </a:lnTo>
                  <a:lnTo>
                    <a:pt x="2320531" y="2784594"/>
                  </a:lnTo>
                  <a:lnTo>
                    <a:pt x="2362181" y="2767011"/>
                  </a:lnTo>
                  <a:lnTo>
                    <a:pt x="2397474" y="2739737"/>
                  </a:lnTo>
                  <a:lnTo>
                    <a:pt x="2424745" y="2704436"/>
                  </a:lnTo>
                  <a:lnTo>
                    <a:pt x="2442328" y="2662771"/>
                  </a:lnTo>
                  <a:lnTo>
                    <a:pt x="2448559" y="2616403"/>
                  </a:lnTo>
                  <a:lnTo>
                    <a:pt x="2448559" y="348869"/>
                  </a:lnTo>
                  <a:lnTo>
                    <a:pt x="348869" y="348869"/>
                  </a:lnTo>
                  <a:lnTo>
                    <a:pt x="314950" y="342005"/>
                  </a:lnTo>
                  <a:lnTo>
                    <a:pt x="287258" y="323294"/>
                  </a:lnTo>
                  <a:lnTo>
                    <a:pt x="268591" y="295558"/>
                  </a:lnTo>
                  <a:lnTo>
                    <a:pt x="261747" y="261619"/>
                  </a:lnTo>
                  <a:lnTo>
                    <a:pt x="268591" y="227681"/>
                  </a:lnTo>
                  <a:lnTo>
                    <a:pt x="287258" y="199945"/>
                  </a:lnTo>
                  <a:lnTo>
                    <a:pt x="314950" y="181234"/>
                  </a:lnTo>
                  <a:lnTo>
                    <a:pt x="348869" y="174370"/>
                  </a:lnTo>
                  <a:lnTo>
                    <a:pt x="2797429" y="174370"/>
                  </a:lnTo>
                  <a:lnTo>
                    <a:pt x="2791197" y="128028"/>
                  </a:lnTo>
                  <a:lnTo>
                    <a:pt x="2773614" y="86378"/>
                  </a:lnTo>
                  <a:lnTo>
                    <a:pt x="2746343" y="51085"/>
                  </a:lnTo>
                  <a:lnTo>
                    <a:pt x="2711050" y="23814"/>
                  </a:lnTo>
                  <a:lnTo>
                    <a:pt x="2669400" y="6231"/>
                  </a:lnTo>
                  <a:lnTo>
                    <a:pt x="2623057" y="0"/>
                  </a:lnTo>
                  <a:close/>
                </a:path>
                <a:path w="2797809" h="2790825">
                  <a:moveTo>
                    <a:pt x="2797429" y="174370"/>
                  </a:moveTo>
                  <a:lnTo>
                    <a:pt x="523367" y="174370"/>
                  </a:lnTo>
                  <a:lnTo>
                    <a:pt x="517135" y="220766"/>
                  </a:lnTo>
                  <a:lnTo>
                    <a:pt x="499547" y="262452"/>
                  </a:lnTo>
                  <a:lnTo>
                    <a:pt x="472265" y="297767"/>
                  </a:lnTo>
                  <a:lnTo>
                    <a:pt x="436950" y="325049"/>
                  </a:lnTo>
                  <a:lnTo>
                    <a:pt x="395264" y="342637"/>
                  </a:lnTo>
                  <a:lnTo>
                    <a:pt x="348869" y="348869"/>
                  </a:lnTo>
                  <a:lnTo>
                    <a:pt x="2623057" y="348869"/>
                  </a:lnTo>
                  <a:lnTo>
                    <a:pt x="2669400" y="342637"/>
                  </a:lnTo>
                  <a:lnTo>
                    <a:pt x="2711050" y="325049"/>
                  </a:lnTo>
                  <a:lnTo>
                    <a:pt x="2746343" y="297767"/>
                  </a:lnTo>
                  <a:lnTo>
                    <a:pt x="2773614" y="262452"/>
                  </a:lnTo>
                  <a:lnTo>
                    <a:pt x="2791197" y="220766"/>
                  </a:lnTo>
                  <a:lnTo>
                    <a:pt x="2797429" y="1743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67800" y="3974845"/>
              <a:ext cx="697865" cy="2616835"/>
            </a:xfrm>
            <a:custGeom>
              <a:avLst/>
              <a:gdLst/>
              <a:ahLst/>
              <a:cxnLst/>
              <a:rect l="l" t="t" r="r" b="b"/>
              <a:pathLst>
                <a:path w="697865" h="2616834">
                  <a:moveTo>
                    <a:pt x="697738" y="0"/>
                  </a:moveTo>
                  <a:lnTo>
                    <a:pt x="523240" y="0"/>
                  </a:lnTo>
                  <a:lnTo>
                    <a:pt x="489321" y="6863"/>
                  </a:lnTo>
                  <a:lnTo>
                    <a:pt x="461629" y="25574"/>
                  </a:lnTo>
                  <a:lnTo>
                    <a:pt x="442962" y="53310"/>
                  </a:lnTo>
                  <a:lnTo>
                    <a:pt x="436118" y="87248"/>
                  </a:lnTo>
                  <a:lnTo>
                    <a:pt x="442962" y="121187"/>
                  </a:lnTo>
                  <a:lnTo>
                    <a:pt x="461629" y="148923"/>
                  </a:lnTo>
                  <a:lnTo>
                    <a:pt x="489321" y="167634"/>
                  </a:lnTo>
                  <a:lnTo>
                    <a:pt x="523240" y="174497"/>
                  </a:lnTo>
                  <a:lnTo>
                    <a:pt x="569635" y="168266"/>
                  </a:lnTo>
                  <a:lnTo>
                    <a:pt x="611321" y="150678"/>
                  </a:lnTo>
                  <a:lnTo>
                    <a:pt x="646636" y="123396"/>
                  </a:lnTo>
                  <a:lnTo>
                    <a:pt x="673918" y="88081"/>
                  </a:lnTo>
                  <a:lnTo>
                    <a:pt x="691506" y="46395"/>
                  </a:lnTo>
                  <a:lnTo>
                    <a:pt x="697738" y="0"/>
                  </a:lnTo>
                  <a:close/>
                </a:path>
                <a:path w="697865" h="2616834">
                  <a:moveTo>
                    <a:pt x="174371" y="2267597"/>
                  </a:moveTo>
                  <a:lnTo>
                    <a:pt x="128028" y="2273828"/>
                  </a:lnTo>
                  <a:lnTo>
                    <a:pt x="86378" y="2291412"/>
                  </a:lnTo>
                  <a:lnTo>
                    <a:pt x="51085" y="2318686"/>
                  </a:lnTo>
                  <a:lnTo>
                    <a:pt x="23814" y="2353989"/>
                  </a:lnTo>
                  <a:lnTo>
                    <a:pt x="6231" y="2395658"/>
                  </a:lnTo>
                  <a:lnTo>
                    <a:pt x="0" y="2442032"/>
                  </a:lnTo>
                  <a:lnTo>
                    <a:pt x="6231" y="2488400"/>
                  </a:lnTo>
                  <a:lnTo>
                    <a:pt x="23814" y="2530065"/>
                  </a:lnTo>
                  <a:lnTo>
                    <a:pt x="51085" y="2565366"/>
                  </a:lnTo>
                  <a:lnTo>
                    <a:pt x="86378" y="2592640"/>
                  </a:lnTo>
                  <a:lnTo>
                    <a:pt x="128028" y="2610223"/>
                  </a:lnTo>
                  <a:lnTo>
                    <a:pt x="174371" y="2616454"/>
                  </a:lnTo>
                  <a:lnTo>
                    <a:pt x="220766" y="2610223"/>
                  </a:lnTo>
                  <a:lnTo>
                    <a:pt x="262452" y="2592640"/>
                  </a:lnTo>
                  <a:lnTo>
                    <a:pt x="297767" y="2565366"/>
                  </a:lnTo>
                  <a:lnTo>
                    <a:pt x="325049" y="2530065"/>
                  </a:lnTo>
                  <a:lnTo>
                    <a:pt x="342637" y="2488400"/>
                  </a:lnTo>
                  <a:lnTo>
                    <a:pt x="348869" y="2442032"/>
                  </a:lnTo>
                  <a:lnTo>
                    <a:pt x="174371" y="2442032"/>
                  </a:lnTo>
                  <a:lnTo>
                    <a:pt x="208363" y="2435177"/>
                  </a:lnTo>
                  <a:lnTo>
                    <a:pt x="236093" y="2416484"/>
                  </a:lnTo>
                  <a:lnTo>
                    <a:pt x="254773" y="2388759"/>
                  </a:lnTo>
                  <a:lnTo>
                    <a:pt x="261620" y="2354808"/>
                  </a:lnTo>
                  <a:lnTo>
                    <a:pt x="254773" y="2320865"/>
                  </a:lnTo>
                  <a:lnTo>
                    <a:pt x="236092" y="2293143"/>
                  </a:lnTo>
                  <a:lnTo>
                    <a:pt x="208363" y="2274452"/>
                  </a:lnTo>
                  <a:lnTo>
                    <a:pt x="174371" y="2267597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67800" y="3800475"/>
              <a:ext cx="2971800" cy="2790825"/>
            </a:xfrm>
            <a:custGeom>
              <a:avLst/>
              <a:gdLst/>
              <a:ahLst/>
              <a:cxnLst/>
              <a:rect l="l" t="t" r="r" b="b"/>
              <a:pathLst>
                <a:path w="2971800" h="2790825">
                  <a:moveTo>
                    <a:pt x="348869" y="2441968"/>
                  </a:moveTo>
                  <a:lnTo>
                    <a:pt x="348869" y="174370"/>
                  </a:lnTo>
                  <a:lnTo>
                    <a:pt x="355100" y="128028"/>
                  </a:lnTo>
                  <a:lnTo>
                    <a:pt x="372683" y="86378"/>
                  </a:lnTo>
                  <a:lnTo>
                    <a:pt x="399954" y="51085"/>
                  </a:lnTo>
                  <a:lnTo>
                    <a:pt x="435247" y="23814"/>
                  </a:lnTo>
                  <a:lnTo>
                    <a:pt x="476897" y="6231"/>
                  </a:lnTo>
                  <a:lnTo>
                    <a:pt x="523240" y="0"/>
                  </a:lnTo>
                  <a:lnTo>
                    <a:pt x="2797429" y="0"/>
                  </a:lnTo>
                  <a:lnTo>
                    <a:pt x="2843771" y="6231"/>
                  </a:lnTo>
                  <a:lnTo>
                    <a:pt x="2885421" y="23814"/>
                  </a:lnTo>
                  <a:lnTo>
                    <a:pt x="2920714" y="51085"/>
                  </a:lnTo>
                  <a:lnTo>
                    <a:pt x="2947985" y="86378"/>
                  </a:lnTo>
                  <a:lnTo>
                    <a:pt x="2965568" y="128028"/>
                  </a:lnTo>
                  <a:lnTo>
                    <a:pt x="2971800" y="174370"/>
                  </a:lnTo>
                  <a:lnTo>
                    <a:pt x="2965568" y="220766"/>
                  </a:lnTo>
                  <a:lnTo>
                    <a:pt x="2947985" y="262452"/>
                  </a:lnTo>
                  <a:lnTo>
                    <a:pt x="2920714" y="297767"/>
                  </a:lnTo>
                  <a:lnTo>
                    <a:pt x="2885421" y="325049"/>
                  </a:lnTo>
                  <a:lnTo>
                    <a:pt x="2843771" y="342637"/>
                  </a:lnTo>
                  <a:lnTo>
                    <a:pt x="2797429" y="348869"/>
                  </a:lnTo>
                  <a:lnTo>
                    <a:pt x="2622930" y="348869"/>
                  </a:lnTo>
                  <a:lnTo>
                    <a:pt x="2622930" y="2616403"/>
                  </a:lnTo>
                  <a:lnTo>
                    <a:pt x="2616699" y="2662771"/>
                  </a:lnTo>
                  <a:lnTo>
                    <a:pt x="2599116" y="2704436"/>
                  </a:lnTo>
                  <a:lnTo>
                    <a:pt x="2571845" y="2739737"/>
                  </a:lnTo>
                  <a:lnTo>
                    <a:pt x="2536552" y="2767011"/>
                  </a:lnTo>
                  <a:lnTo>
                    <a:pt x="2494902" y="2784594"/>
                  </a:lnTo>
                  <a:lnTo>
                    <a:pt x="2448559" y="2790825"/>
                  </a:lnTo>
                  <a:lnTo>
                    <a:pt x="174371" y="2790825"/>
                  </a:lnTo>
                  <a:lnTo>
                    <a:pt x="128028" y="2784594"/>
                  </a:lnTo>
                  <a:lnTo>
                    <a:pt x="86378" y="2767011"/>
                  </a:lnTo>
                  <a:lnTo>
                    <a:pt x="51085" y="2739737"/>
                  </a:lnTo>
                  <a:lnTo>
                    <a:pt x="23814" y="2704436"/>
                  </a:lnTo>
                  <a:lnTo>
                    <a:pt x="6231" y="2662771"/>
                  </a:lnTo>
                  <a:lnTo>
                    <a:pt x="0" y="2616403"/>
                  </a:lnTo>
                  <a:lnTo>
                    <a:pt x="6231" y="2570029"/>
                  </a:lnTo>
                  <a:lnTo>
                    <a:pt x="23814" y="2528360"/>
                  </a:lnTo>
                  <a:lnTo>
                    <a:pt x="51085" y="2493057"/>
                  </a:lnTo>
                  <a:lnTo>
                    <a:pt x="86378" y="2465783"/>
                  </a:lnTo>
                  <a:lnTo>
                    <a:pt x="128028" y="2448199"/>
                  </a:lnTo>
                  <a:lnTo>
                    <a:pt x="174371" y="2441968"/>
                  </a:lnTo>
                  <a:lnTo>
                    <a:pt x="348869" y="2441968"/>
                  </a:lnTo>
                  <a:close/>
                </a:path>
                <a:path w="2971800" h="2790825">
                  <a:moveTo>
                    <a:pt x="523240" y="0"/>
                  </a:moveTo>
                  <a:lnTo>
                    <a:pt x="569635" y="6231"/>
                  </a:lnTo>
                  <a:lnTo>
                    <a:pt x="611321" y="23814"/>
                  </a:lnTo>
                  <a:lnTo>
                    <a:pt x="646636" y="51085"/>
                  </a:lnTo>
                  <a:lnTo>
                    <a:pt x="673918" y="86378"/>
                  </a:lnTo>
                  <a:lnTo>
                    <a:pt x="691506" y="128028"/>
                  </a:lnTo>
                  <a:lnTo>
                    <a:pt x="697738" y="174370"/>
                  </a:lnTo>
                  <a:lnTo>
                    <a:pt x="691506" y="220766"/>
                  </a:lnTo>
                  <a:lnTo>
                    <a:pt x="673918" y="262452"/>
                  </a:lnTo>
                  <a:lnTo>
                    <a:pt x="646636" y="297767"/>
                  </a:lnTo>
                  <a:lnTo>
                    <a:pt x="611321" y="325049"/>
                  </a:lnTo>
                  <a:lnTo>
                    <a:pt x="569635" y="342637"/>
                  </a:lnTo>
                  <a:lnTo>
                    <a:pt x="523240" y="348869"/>
                  </a:lnTo>
                  <a:lnTo>
                    <a:pt x="489321" y="342005"/>
                  </a:lnTo>
                  <a:lnTo>
                    <a:pt x="461629" y="323294"/>
                  </a:lnTo>
                  <a:lnTo>
                    <a:pt x="442962" y="295558"/>
                  </a:lnTo>
                  <a:lnTo>
                    <a:pt x="436118" y="261619"/>
                  </a:lnTo>
                  <a:lnTo>
                    <a:pt x="442962" y="227681"/>
                  </a:lnTo>
                  <a:lnTo>
                    <a:pt x="461629" y="199945"/>
                  </a:lnTo>
                  <a:lnTo>
                    <a:pt x="489321" y="181234"/>
                  </a:lnTo>
                  <a:lnTo>
                    <a:pt x="523240" y="174370"/>
                  </a:lnTo>
                  <a:lnTo>
                    <a:pt x="697738" y="174370"/>
                  </a:lnTo>
                </a:path>
                <a:path w="2971800" h="2790825">
                  <a:moveTo>
                    <a:pt x="2622930" y="348869"/>
                  </a:moveTo>
                  <a:lnTo>
                    <a:pt x="523240" y="348869"/>
                  </a:lnTo>
                </a:path>
                <a:path w="2971800" h="2790825">
                  <a:moveTo>
                    <a:pt x="174371" y="2790825"/>
                  </a:moveTo>
                  <a:lnTo>
                    <a:pt x="220766" y="2784594"/>
                  </a:lnTo>
                  <a:lnTo>
                    <a:pt x="262452" y="2767011"/>
                  </a:lnTo>
                  <a:lnTo>
                    <a:pt x="297767" y="2739737"/>
                  </a:lnTo>
                  <a:lnTo>
                    <a:pt x="325049" y="2704436"/>
                  </a:lnTo>
                  <a:lnTo>
                    <a:pt x="342637" y="2662771"/>
                  </a:lnTo>
                  <a:lnTo>
                    <a:pt x="348869" y="2616403"/>
                  </a:lnTo>
                  <a:lnTo>
                    <a:pt x="348869" y="2441968"/>
                  </a:lnTo>
                </a:path>
              </a:pathLst>
            </a:custGeom>
            <a:ln w="15875">
              <a:solidFill>
                <a:srgbClr val="5D0E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6400" y="3933825"/>
              <a:ext cx="2514600" cy="25336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7070">
              <a:lnSpc>
                <a:spcPct val="100000"/>
              </a:lnSpc>
              <a:spcBef>
                <a:spcPts val="105"/>
              </a:spcBef>
            </a:pPr>
            <a:r>
              <a:rPr spc="345" dirty="0"/>
              <a:t>Описание</a:t>
            </a:r>
            <a:r>
              <a:rPr spc="-114" dirty="0"/>
              <a:t> </a:t>
            </a:r>
            <a:r>
              <a:rPr spc="310" dirty="0"/>
              <a:t>функционала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84200" indent="-342900">
              <a:lnSpc>
                <a:spcPct val="100899"/>
              </a:lnSpc>
              <a:spcBef>
                <a:spcPts val="80"/>
              </a:spcBef>
              <a:buClr>
                <a:srgbClr val="DE31DE"/>
              </a:buClr>
              <a:buAutoNum type="arabicPeriod"/>
              <a:tabLst>
                <a:tab pos="355600" algn="l"/>
              </a:tabLst>
            </a:pPr>
            <a:r>
              <a:rPr b="1" spc="-60" dirty="0">
                <a:latin typeface="Arial"/>
                <a:cs typeface="Arial"/>
              </a:rPr>
              <a:t>Ввод</a:t>
            </a:r>
            <a:r>
              <a:rPr b="1" spc="1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интересов.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dirty="0"/>
              <a:t>Пользователь</a:t>
            </a:r>
            <a:r>
              <a:rPr spc="40" dirty="0"/>
              <a:t> </a:t>
            </a:r>
            <a:r>
              <a:rPr dirty="0"/>
              <a:t>вводит</a:t>
            </a:r>
            <a:r>
              <a:rPr spc="-35" dirty="0"/>
              <a:t> </a:t>
            </a:r>
            <a:r>
              <a:rPr dirty="0"/>
              <a:t>в</a:t>
            </a:r>
            <a:r>
              <a:rPr spc="45" dirty="0"/>
              <a:t> </a:t>
            </a:r>
            <a:r>
              <a:rPr spc="140" dirty="0"/>
              <a:t>одно</a:t>
            </a:r>
            <a:r>
              <a:rPr spc="5" dirty="0"/>
              <a:t> </a:t>
            </a:r>
            <a:r>
              <a:rPr spc="105" dirty="0"/>
              <a:t>поле</a:t>
            </a:r>
            <a:r>
              <a:rPr spc="100" dirty="0"/>
              <a:t> </a:t>
            </a:r>
            <a:r>
              <a:rPr dirty="0"/>
              <a:t>всё,</a:t>
            </a:r>
            <a:r>
              <a:rPr spc="10" dirty="0"/>
              <a:t> </a:t>
            </a:r>
            <a:r>
              <a:rPr dirty="0"/>
              <a:t>что</a:t>
            </a:r>
            <a:r>
              <a:rPr spc="95" dirty="0"/>
              <a:t> </a:t>
            </a:r>
            <a:r>
              <a:rPr spc="60" dirty="0"/>
              <a:t>знает</a:t>
            </a:r>
            <a:r>
              <a:rPr spc="45" dirty="0"/>
              <a:t> </a:t>
            </a:r>
            <a:r>
              <a:rPr spc="195" dirty="0"/>
              <a:t>об </a:t>
            </a:r>
            <a:r>
              <a:rPr dirty="0"/>
              <a:t>увлечениях</a:t>
            </a:r>
            <a:r>
              <a:rPr spc="105" dirty="0"/>
              <a:t> </a:t>
            </a:r>
            <a:r>
              <a:rPr spc="40" dirty="0"/>
              <a:t>человека.</a:t>
            </a:r>
          </a:p>
          <a:p>
            <a:pPr marL="355600" marR="5080" indent="-342900">
              <a:lnSpc>
                <a:spcPct val="101000"/>
              </a:lnSpc>
              <a:spcBef>
                <a:spcPts val="969"/>
              </a:spcBef>
              <a:buClr>
                <a:srgbClr val="DE31DE"/>
              </a:buClr>
              <a:buAutoNum type="arabicPeriod"/>
              <a:tabLst>
                <a:tab pos="355600" algn="l"/>
              </a:tabLst>
            </a:pPr>
            <a:r>
              <a:rPr b="1" dirty="0">
                <a:latin typeface="Arial"/>
                <a:cs typeface="Arial"/>
              </a:rPr>
              <a:t>Диалог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и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уточнение.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spc="105" dirty="0"/>
              <a:t>Нейросеть</a:t>
            </a:r>
            <a:r>
              <a:rPr spc="35" dirty="0"/>
              <a:t> </a:t>
            </a:r>
            <a:r>
              <a:rPr spc="80" dirty="0"/>
              <a:t>определяет</a:t>
            </a:r>
            <a:r>
              <a:rPr spc="35" dirty="0"/>
              <a:t> </a:t>
            </a:r>
            <a:r>
              <a:rPr spc="80" dirty="0"/>
              <a:t>неоднозначные</a:t>
            </a:r>
            <a:r>
              <a:rPr spc="85" dirty="0"/>
              <a:t> </a:t>
            </a:r>
            <a:r>
              <a:rPr spc="135" dirty="0"/>
              <a:t>моменты</a:t>
            </a:r>
            <a:r>
              <a:rPr spc="45" dirty="0"/>
              <a:t> </a:t>
            </a:r>
            <a:r>
              <a:rPr spc="30" dirty="0"/>
              <a:t>и </a:t>
            </a:r>
            <a:r>
              <a:rPr spc="105" dirty="0"/>
              <a:t>задает</a:t>
            </a:r>
            <a:r>
              <a:rPr spc="-30" dirty="0"/>
              <a:t> </a:t>
            </a:r>
            <a:r>
              <a:rPr spc="75" dirty="0"/>
              <a:t>вопросы.</a:t>
            </a:r>
          </a:p>
          <a:p>
            <a:pPr marL="355600" marR="422909" indent="-342900">
              <a:lnSpc>
                <a:spcPct val="100899"/>
              </a:lnSpc>
              <a:spcBef>
                <a:spcPts val="975"/>
              </a:spcBef>
              <a:buClr>
                <a:srgbClr val="DE31DE"/>
              </a:buClr>
              <a:buAutoNum type="arabicPeriod"/>
              <a:tabLst>
                <a:tab pos="355600" algn="l"/>
              </a:tabLst>
            </a:pPr>
            <a:r>
              <a:rPr b="1" dirty="0">
                <a:latin typeface="Arial"/>
                <a:cs typeface="Arial"/>
              </a:rPr>
              <a:t>Генерация</a:t>
            </a:r>
            <a:r>
              <a:rPr b="1" spc="20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идей.</a:t>
            </a:r>
            <a:r>
              <a:rPr b="1" spc="120" dirty="0">
                <a:latin typeface="Arial"/>
                <a:cs typeface="Arial"/>
              </a:rPr>
              <a:t> </a:t>
            </a:r>
            <a:r>
              <a:rPr spc="204" dirty="0"/>
              <a:t>Система</a:t>
            </a:r>
            <a:r>
              <a:rPr spc="75" dirty="0"/>
              <a:t> </a:t>
            </a:r>
            <a:r>
              <a:rPr dirty="0"/>
              <a:t>выдает</a:t>
            </a:r>
            <a:r>
              <a:rPr spc="40" dirty="0"/>
              <a:t> </a:t>
            </a:r>
            <a:r>
              <a:rPr spc="85" dirty="0"/>
              <a:t>несколько</a:t>
            </a:r>
            <a:r>
              <a:rPr spc="35" dirty="0"/>
              <a:t> </a:t>
            </a:r>
            <a:r>
              <a:rPr spc="95" dirty="0"/>
              <a:t>персонализированных </a:t>
            </a:r>
            <a:r>
              <a:rPr spc="90" dirty="0"/>
              <a:t>вариантов</a:t>
            </a:r>
            <a:r>
              <a:rPr spc="-15" dirty="0"/>
              <a:t> </a:t>
            </a:r>
            <a:r>
              <a:rPr spc="260" dirty="0"/>
              <a:t>с</a:t>
            </a:r>
            <a:r>
              <a:rPr spc="-40" dirty="0"/>
              <a:t> </a:t>
            </a:r>
            <a:r>
              <a:rPr spc="110" dirty="0"/>
              <a:t>объяснением</a:t>
            </a:r>
            <a:r>
              <a:rPr spc="-5" dirty="0"/>
              <a:t> </a:t>
            </a:r>
            <a:r>
              <a:rPr spc="-10" dirty="0"/>
              <a:t>логики.</a:t>
            </a:r>
          </a:p>
          <a:p>
            <a:pPr marL="355600" marR="365125" indent="-342900">
              <a:lnSpc>
                <a:spcPct val="100800"/>
              </a:lnSpc>
              <a:spcBef>
                <a:spcPts val="975"/>
              </a:spcBef>
              <a:buClr>
                <a:srgbClr val="DE31DE"/>
              </a:buClr>
              <a:buAutoNum type="arabicPeriod"/>
              <a:tabLst>
                <a:tab pos="355600" algn="l"/>
              </a:tabLst>
            </a:pPr>
            <a:r>
              <a:rPr b="1" spc="60" dirty="0">
                <a:latin typeface="Arial"/>
                <a:cs typeface="Arial"/>
              </a:rPr>
              <a:t>Доставка. </a:t>
            </a:r>
            <a:r>
              <a:rPr spc="160" dirty="0"/>
              <a:t>Выбираем</a:t>
            </a:r>
            <a:r>
              <a:rPr spc="20" dirty="0"/>
              <a:t> </a:t>
            </a:r>
            <a:r>
              <a:rPr spc="55" dirty="0"/>
              <a:t>нужные</a:t>
            </a:r>
            <a:r>
              <a:rPr spc="60" dirty="0"/>
              <a:t> </a:t>
            </a:r>
            <a:r>
              <a:rPr dirty="0"/>
              <a:t>товары,</a:t>
            </a:r>
            <a:r>
              <a:rPr spc="60" dirty="0"/>
              <a:t> </a:t>
            </a:r>
            <a:r>
              <a:rPr spc="120" dirty="0"/>
              <a:t>оплачиваем</a:t>
            </a:r>
            <a:r>
              <a:rPr spc="25" dirty="0"/>
              <a:t> </a:t>
            </a:r>
            <a:r>
              <a:rPr spc="80" dirty="0"/>
              <a:t>и</a:t>
            </a:r>
            <a:r>
              <a:rPr spc="40" dirty="0"/>
              <a:t> </a:t>
            </a:r>
            <a:r>
              <a:rPr spc="145" dirty="0"/>
              <a:t>ждём</a:t>
            </a:r>
            <a:r>
              <a:rPr spc="25" dirty="0"/>
              <a:t> </a:t>
            </a:r>
            <a:r>
              <a:rPr spc="35" dirty="0"/>
              <a:t>прибытия </a:t>
            </a:r>
            <a:r>
              <a:rPr spc="75" dirty="0"/>
              <a:t>подарков.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33600"/>
            <a:ext cx="3819524" cy="22669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0" y="4762498"/>
            <a:ext cx="3905250" cy="20859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91575" y="2895599"/>
            <a:ext cx="2914650" cy="3962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05000" y="685800"/>
            <a:ext cx="7781861" cy="553998"/>
          </a:xfrm>
        </p:spPr>
        <p:txBody>
          <a:bodyPr/>
          <a:lstStyle/>
          <a:p>
            <a:r>
              <a:rPr lang="ru-RU" dirty="0" smtClean="0"/>
              <a:t>Технологический стек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670175" y="2159952"/>
            <a:ext cx="8679815" cy="1384995"/>
          </a:xfrm>
        </p:spPr>
        <p:txBody>
          <a:bodyPr/>
          <a:lstStyle/>
          <a:p>
            <a:r>
              <a:rPr lang="ru-RU" dirty="0" smtClean="0"/>
              <a:t>Язык программирования: </a:t>
            </a:r>
            <a:r>
              <a:rPr lang="en-US" dirty="0" err="1" smtClean="0"/>
              <a:t>Kotlin</a:t>
            </a:r>
            <a:endParaRPr lang="en-US" dirty="0" smtClean="0"/>
          </a:p>
          <a:p>
            <a:r>
              <a:rPr lang="ru-RU" dirty="0" smtClean="0"/>
              <a:t>Среда разработки: </a:t>
            </a:r>
            <a:r>
              <a:rPr lang="en-US" dirty="0" smtClean="0"/>
              <a:t>Android Studio</a:t>
            </a:r>
          </a:p>
          <a:p>
            <a:r>
              <a:rPr lang="ru-RU" dirty="0" err="1" smtClean="0"/>
              <a:t>Бэкенд</a:t>
            </a:r>
            <a:r>
              <a:rPr lang="ru-RU" dirty="0" smtClean="0"/>
              <a:t> и база данных: </a:t>
            </a:r>
            <a:r>
              <a:rPr lang="en-US" dirty="0" smtClean="0"/>
              <a:t>Firebase</a:t>
            </a:r>
            <a:endParaRPr lang="ru-RU" dirty="0" smtClean="0"/>
          </a:p>
          <a:p>
            <a:r>
              <a:rPr lang="ru-RU" dirty="0" smtClean="0"/>
              <a:t>Внешние сервисы: </a:t>
            </a:r>
            <a:r>
              <a:rPr lang="en-US" dirty="0" smtClean="0"/>
              <a:t>Yandex AI API</a:t>
            </a:r>
            <a:endParaRPr lang="ru-RU" dirty="0" smtClean="0"/>
          </a:p>
          <a:p>
            <a:r>
              <a:rPr lang="ru-RU" dirty="0" smtClean="0"/>
              <a:t>Система контроля версий: </a:t>
            </a:r>
            <a:r>
              <a:rPr lang="en-US" dirty="0" err="1" smtClean="0"/>
              <a:t>Git</a:t>
            </a:r>
            <a:r>
              <a:rPr lang="en-US" dirty="0" smtClean="0"/>
              <a:t> + GitHub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9643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8662" y="648588"/>
            <a:ext cx="7781861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pc="160" dirty="0" smtClean="0">
                <a:solidFill>
                  <a:schemeClr val="tx1"/>
                </a:solidFill>
              </a:rPr>
              <a:t>Вывод</a:t>
            </a:r>
            <a:endParaRPr spc="16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038225" cy="6858000"/>
          </a:xfrm>
          <a:custGeom>
            <a:avLst/>
            <a:gdLst/>
            <a:ahLst/>
            <a:cxnLst/>
            <a:rect l="l" t="t" r="r" b="b"/>
            <a:pathLst>
              <a:path w="1038225" h="6858000">
                <a:moveTo>
                  <a:pt x="1038225" y="6315443"/>
                </a:moveTo>
                <a:lnTo>
                  <a:pt x="1036447" y="6308179"/>
                </a:lnTo>
                <a:lnTo>
                  <a:pt x="1031138" y="6300902"/>
                </a:lnTo>
                <a:lnTo>
                  <a:pt x="802132" y="6068301"/>
                </a:lnTo>
                <a:lnTo>
                  <a:pt x="797140" y="6068301"/>
                </a:lnTo>
                <a:lnTo>
                  <a:pt x="797140" y="6063462"/>
                </a:lnTo>
                <a:lnTo>
                  <a:pt x="792505" y="6063462"/>
                </a:lnTo>
                <a:lnTo>
                  <a:pt x="787692" y="6058611"/>
                </a:lnTo>
                <a:lnTo>
                  <a:pt x="692175" y="6058611"/>
                </a:lnTo>
                <a:lnTo>
                  <a:pt x="291757" y="6058052"/>
                </a:lnTo>
                <a:lnTo>
                  <a:pt x="291757" y="6057900"/>
                </a:lnTo>
                <a:lnTo>
                  <a:pt x="180975" y="6057900"/>
                </a:lnTo>
                <a:lnTo>
                  <a:pt x="180975" y="0"/>
                </a:lnTo>
                <a:lnTo>
                  <a:pt x="0" y="0"/>
                </a:lnTo>
                <a:lnTo>
                  <a:pt x="0" y="6057900"/>
                </a:lnTo>
                <a:lnTo>
                  <a:pt x="0" y="6572250"/>
                </a:lnTo>
                <a:lnTo>
                  <a:pt x="0" y="6858000"/>
                </a:lnTo>
                <a:lnTo>
                  <a:pt x="180975" y="6858000"/>
                </a:lnTo>
                <a:lnTo>
                  <a:pt x="180975" y="6572250"/>
                </a:lnTo>
                <a:lnTo>
                  <a:pt x="291757" y="6572250"/>
                </a:lnTo>
                <a:lnTo>
                  <a:pt x="291757" y="6571094"/>
                </a:lnTo>
                <a:lnTo>
                  <a:pt x="692175" y="6572250"/>
                </a:lnTo>
                <a:lnTo>
                  <a:pt x="792505" y="6572250"/>
                </a:lnTo>
                <a:lnTo>
                  <a:pt x="793610" y="6571094"/>
                </a:lnTo>
                <a:lnTo>
                  <a:pt x="797140" y="6567411"/>
                </a:lnTo>
                <a:lnTo>
                  <a:pt x="798690" y="6565760"/>
                </a:lnTo>
                <a:lnTo>
                  <a:pt x="800582" y="6564211"/>
                </a:lnTo>
                <a:lnTo>
                  <a:pt x="802132" y="6562560"/>
                </a:lnTo>
                <a:lnTo>
                  <a:pt x="1031138" y="6329972"/>
                </a:lnTo>
                <a:lnTo>
                  <a:pt x="1036447" y="6322708"/>
                </a:lnTo>
                <a:lnTo>
                  <a:pt x="1038225" y="6315443"/>
                </a:lnTo>
                <a:close/>
              </a:path>
            </a:pathLst>
          </a:custGeom>
          <a:solidFill>
            <a:srgbClr val="DE31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8662" y="2159952"/>
            <a:ext cx="4638040" cy="167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100"/>
              </a:spcBef>
            </a:pPr>
            <a:r>
              <a:rPr sz="1800" spc="150" dirty="0">
                <a:solidFill>
                  <a:schemeClr val="tx1"/>
                </a:solidFill>
                <a:latin typeface="Trebuchet MS"/>
                <a:cs typeface="Trebuchet MS"/>
              </a:rPr>
              <a:t>Данное</a:t>
            </a:r>
            <a:r>
              <a:rPr sz="1800" spc="-6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chemeClr val="tx1"/>
                </a:solidFill>
                <a:latin typeface="Trebuchet MS"/>
                <a:cs typeface="Trebuchet MS"/>
              </a:rPr>
              <a:t>приложение</a:t>
            </a:r>
            <a:r>
              <a:rPr sz="1800"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80" dirty="0">
                <a:solidFill>
                  <a:schemeClr val="tx1"/>
                </a:solidFill>
                <a:latin typeface="Trebuchet MS"/>
                <a:cs typeface="Trebuchet MS"/>
              </a:rPr>
              <a:t>решает</a:t>
            </a:r>
            <a:r>
              <a:rPr sz="1800" spc="-3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chemeClr val="tx1"/>
                </a:solidFill>
                <a:latin typeface="Trebuchet MS"/>
                <a:cs typeface="Trebuchet MS"/>
              </a:rPr>
              <a:t>реальную </a:t>
            </a:r>
            <a:r>
              <a:rPr sz="1800" spc="114" dirty="0">
                <a:solidFill>
                  <a:schemeClr val="tx1"/>
                </a:solidFill>
                <a:latin typeface="Trebuchet MS"/>
                <a:cs typeface="Trebuchet MS"/>
              </a:rPr>
              <a:t>проблему,</a:t>
            </a:r>
            <a:r>
              <a:rPr sz="1800" spc="1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260" dirty="0">
                <a:solidFill>
                  <a:schemeClr val="tx1"/>
                </a:solidFill>
                <a:latin typeface="Trebuchet MS"/>
                <a:cs typeface="Trebuchet MS"/>
              </a:rPr>
              <a:t>с</a:t>
            </a:r>
            <a:r>
              <a:rPr sz="1800" spc="-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chemeClr val="tx1"/>
                </a:solidFill>
                <a:latin typeface="Trebuchet MS"/>
                <a:cs typeface="Trebuchet MS"/>
              </a:rPr>
              <a:t>которой</a:t>
            </a:r>
            <a:r>
              <a:rPr sz="1800" spc="-6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chemeClr val="tx1"/>
                </a:solidFill>
                <a:latin typeface="Trebuchet MS"/>
                <a:cs typeface="Trebuchet MS"/>
              </a:rPr>
              <a:t>сталкивается </a:t>
            </a:r>
            <a:r>
              <a:rPr sz="1800" dirty="0">
                <a:solidFill>
                  <a:schemeClr val="tx1"/>
                </a:solidFill>
                <a:latin typeface="Trebuchet MS"/>
                <a:cs typeface="Trebuchet MS"/>
              </a:rPr>
              <a:t>каждый,</a:t>
            </a:r>
            <a:r>
              <a:rPr sz="1800" spc="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chemeClr val="tx1"/>
                </a:solidFill>
                <a:latin typeface="Trebuchet MS"/>
                <a:cs typeface="Trebuchet MS"/>
              </a:rPr>
              <a:t>экономя</a:t>
            </a:r>
            <a:r>
              <a:rPr sz="1800" spc="-2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chemeClr val="tx1"/>
                </a:solidFill>
                <a:latin typeface="Trebuchet MS"/>
                <a:cs typeface="Trebuchet MS"/>
              </a:rPr>
              <a:t>время</a:t>
            </a:r>
            <a:r>
              <a:rPr sz="1800" spc="-2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chemeClr val="tx1"/>
                </a:solidFill>
                <a:latin typeface="Trebuchet MS"/>
                <a:cs typeface="Trebuchet MS"/>
              </a:rPr>
              <a:t>и</a:t>
            </a:r>
            <a:r>
              <a:rPr sz="1800" spc="-3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chemeClr val="tx1"/>
                </a:solidFill>
                <a:latin typeface="Trebuchet MS"/>
                <a:cs typeface="Trebuchet MS"/>
              </a:rPr>
              <a:t>нервы</a:t>
            </a:r>
            <a:r>
              <a:rPr sz="1800" spc="2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chemeClr val="tx1"/>
                </a:solidFill>
                <a:latin typeface="Trebuchet MS"/>
                <a:cs typeface="Trebuchet MS"/>
              </a:rPr>
              <a:t>наших </a:t>
            </a:r>
            <a:r>
              <a:rPr sz="1800" spc="45" dirty="0">
                <a:solidFill>
                  <a:schemeClr val="tx1"/>
                </a:solidFill>
                <a:latin typeface="Trebuchet MS"/>
                <a:cs typeface="Trebuchet MS"/>
              </a:rPr>
              <a:t>пользователей.</a:t>
            </a:r>
            <a:r>
              <a:rPr sz="1800" spc="-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chemeClr val="tx1"/>
                </a:solidFill>
                <a:latin typeface="Trebuchet MS"/>
                <a:cs typeface="Trebuchet MS"/>
              </a:rPr>
              <a:t>Это</a:t>
            </a:r>
            <a:r>
              <a:rPr sz="1800" spc="-2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chemeClr val="tx1"/>
                </a:solidFill>
                <a:latin typeface="Trebuchet MS"/>
                <a:cs typeface="Trebuchet MS"/>
              </a:rPr>
              <a:t>превращает</a:t>
            </a:r>
            <a:r>
              <a:rPr sz="1800" spc="-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chemeClr val="tx1"/>
                </a:solidFill>
                <a:latin typeface="Trebuchet MS"/>
                <a:cs typeface="Trebuchet MS"/>
              </a:rPr>
              <a:t>рутину </a:t>
            </a:r>
            <a:r>
              <a:rPr sz="1800" spc="125" dirty="0">
                <a:solidFill>
                  <a:schemeClr val="tx1"/>
                </a:solidFill>
                <a:latin typeface="Trebuchet MS"/>
                <a:cs typeface="Trebuchet MS"/>
              </a:rPr>
              <a:t>выбора</a:t>
            </a:r>
            <a:r>
              <a:rPr sz="1800" spc="-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chemeClr val="tx1"/>
                </a:solidFill>
                <a:latin typeface="Trebuchet MS"/>
                <a:cs typeface="Trebuchet MS"/>
              </a:rPr>
              <a:t>подарка</a:t>
            </a:r>
            <a:r>
              <a:rPr sz="1800" spc="-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chemeClr val="tx1"/>
                </a:solidFill>
                <a:latin typeface="Trebuchet MS"/>
                <a:cs typeface="Trebuchet MS"/>
              </a:rPr>
              <a:t>в</a:t>
            </a:r>
            <a:r>
              <a:rPr sz="1800" spc="-9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Trebuchet MS"/>
                <a:cs typeface="Trebuchet MS"/>
              </a:rPr>
              <a:t>увлекательный </a:t>
            </a:r>
            <a:r>
              <a:rPr sz="1800" spc="105" dirty="0">
                <a:solidFill>
                  <a:schemeClr val="tx1"/>
                </a:solidFill>
                <a:latin typeface="Trebuchet MS"/>
                <a:cs typeface="Trebuchet MS"/>
              </a:rPr>
              <a:t>безошибочный</a:t>
            </a:r>
            <a:r>
              <a:rPr sz="1800" spc="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chemeClr val="tx1"/>
                </a:solidFill>
                <a:latin typeface="Trebuchet MS"/>
                <a:cs typeface="Trebuchet MS"/>
              </a:rPr>
              <a:t>опыт.</a:t>
            </a:r>
            <a:endParaRPr sz="18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96000" y="647700"/>
            <a:ext cx="5659120" cy="6210300"/>
            <a:chOff x="6096000" y="647700"/>
            <a:chExt cx="5659120" cy="62103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0" y="647700"/>
              <a:ext cx="5448300" cy="52482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76336" y="2980690"/>
              <a:ext cx="3978783" cy="38773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0175" y="2215704"/>
            <a:ext cx="8077200" cy="1704339"/>
          </a:xfrm>
          <a:prstGeom prst="rect">
            <a:avLst/>
          </a:prstGeom>
        </p:spPr>
        <p:txBody>
          <a:bodyPr vert="horz" wrap="square" lIns="0" tIns="4483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29"/>
              </a:spcBef>
            </a:pPr>
            <a:r>
              <a:rPr sz="5400" spc="660" dirty="0"/>
              <a:t>Спасибо</a:t>
            </a:r>
            <a:r>
              <a:rPr sz="5400" spc="-140" dirty="0"/>
              <a:t> </a:t>
            </a:r>
            <a:r>
              <a:rPr sz="5400" spc="350" dirty="0"/>
              <a:t>за</a:t>
            </a:r>
            <a:r>
              <a:rPr sz="5400" spc="-65" dirty="0"/>
              <a:t> </a:t>
            </a:r>
            <a:r>
              <a:rPr sz="5400" spc="270" dirty="0"/>
              <a:t>внимание!</a:t>
            </a:r>
            <a:endParaRPr sz="5400"/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800" spc="155" dirty="0"/>
              <a:t>Вопросы?</a:t>
            </a:r>
            <a:endParaRPr sz="180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5505450" cy="6858000"/>
            <a:chOff x="0" y="0"/>
            <a:chExt cx="550545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847975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741170" cy="6858000"/>
            </a:xfrm>
            <a:custGeom>
              <a:avLst/>
              <a:gdLst/>
              <a:ahLst/>
              <a:cxnLst/>
              <a:rect l="l" t="t" r="r" b="b"/>
              <a:pathLst>
                <a:path w="1741170" h="6858000">
                  <a:moveTo>
                    <a:pt x="1740725" y="4714291"/>
                  </a:moveTo>
                  <a:lnTo>
                    <a:pt x="1738960" y="4702619"/>
                  </a:lnTo>
                  <a:lnTo>
                    <a:pt x="1733677" y="4691380"/>
                  </a:lnTo>
                  <a:lnTo>
                    <a:pt x="1377569" y="4338447"/>
                  </a:lnTo>
                  <a:lnTo>
                    <a:pt x="1377569" y="4333748"/>
                  </a:lnTo>
                  <a:lnTo>
                    <a:pt x="1372870" y="4333748"/>
                  </a:lnTo>
                  <a:lnTo>
                    <a:pt x="1368475" y="4330306"/>
                  </a:lnTo>
                  <a:lnTo>
                    <a:pt x="1362354" y="4327296"/>
                  </a:lnTo>
                  <a:lnTo>
                    <a:pt x="1354467" y="4325163"/>
                  </a:lnTo>
                  <a:lnTo>
                    <a:pt x="1344803" y="4324350"/>
                  </a:lnTo>
                  <a:lnTo>
                    <a:pt x="180975" y="4324350"/>
                  </a:lnTo>
                  <a:lnTo>
                    <a:pt x="180975" y="0"/>
                  </a:lnTo>
                  <a:lnTo>
                    <a:pt x="0" y="0"/>
                  </a:lnTo>
                  <a:lnTo>
                    <a:pt x="0" y="4324350"/>
                  </a:lnTo>
                  <a:lnTo>
                    <a:pt x="0" y="5105400"/>
                  </a:lnTo>
                  <a:lnTo>
                    <a:pt x="0" y="6858000"/>
                  </a:lnTo>
                  <a:lnTo>
                    <a:pt x="180975" y="6858000"/>
                  </a:lnTo>
                  <a:lnTo>
                    <a:pt x="180975" y="5105400"/>
                  </a:lnTo>
                  <a:lnTo>
                    <a:pt x="1344803" y="5105400"/>
                  </a:lnTo>
                  <a:lnTo>
                    <a:pt x="1354467" y="5104600"/>
                  </a:lnTo>
                  <a:lnTo>
                    <a:pt x="1362354" y="5102466"/>
                  </a:lnTo>
                  <a:lnTo>
                    <a:pt x="1368475" y="5099456"/>
                  </a:lnTo>
                  <a:lnTo>
                    <a:pt x="1372870" y="5096002"/>
                  </a:lnTo>
                  <a:lnTo>
                    <a:pt x="1372870" y="5091303"/>
                  </a:lnTo>
                  <a:lnTo>
                    <a:pt x="1377569" y="5091303"/>
                  </a:lnTo>
                  <a:lnTo>
                    <a:pt x="1733677" y="4733671"/>
                  </a:lnTo>
                  <a:lnTo>
                    <a:pt x="1738960" y="4725086"/>
                  </a:lnTo>
                  <a:lnTo>
                    <a:pt x="1740725" y="4714291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1725" y="3952874"/>
              <a:ext cx="3133725" cy="29051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293</Words>
  <Application>Microsoft Office PowerPoint</Application>
  <PresentationFormat>Широкоэкранный</PresentationFormat>
  <Paragraphs>41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Office Theme</vt:lpstr>
      <vt:lpstr>Презентация PowerPoint</vt:lpstr>
      <vt:lpstr>Актуальность</vt:lpstr>
      <vt:lpstr>Цель и план</vt:lpstr>
      <vt:lpstr>Анализ конкурентов</vt:lpstr>
      <vt:lpstr>Описание функционала</vt:lpstr>
      <vt:lpstr>Технологический стек</vt:lpstr>
      <vt:lpstr>Вывод</vt:lpstr>
      <vt:lpstr>Спасибо за внимание! 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Student</cp:lastModifiedBy>
  <cp:revision>3</cp:revision>
  <dcterms:created xsi:type="dcterms:W3CDTF">2025-11-28T09:34:01Z</dcterms:created>
  <dcterms:modified xsi:type="dcterms:W3CDTF">2025-11-28T10:12:01Z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2025-09-14T00:00:00Z</vt:filetime>
  </property>
  <property fmtid="{D5CDD505-2E9C-101B-9397-08002B2CF9AE}" pid="3" name="LastSaved">
    <vt:filetime>2025-11-28T00:00:00Z</vt:filetime>
  </property>
</Properties>
</file>